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
  </p:notesMasterIdLst>
  <p:sldIdLst>
    <p:sldId id="256" r:id="rId3"/>
    <p:sldId id="382" r:id="rId4"/>
    <p:sldId id="384" r:id="rId5"/>
    <p:sldId id="385" r:id="rId6"/>
    <p:sldId id="387" r:id="rId7"/>
    <p:sldId id="388" r:id="rId8"/>
    <p:sldId id="389" r:id="rId9"/>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0066FF"/>
    <a:srgbClr val="FF9C00"/>
    <a:srgbClr val="FF0000"/>
    <a:srgbClr val="1CABFF"/>
    <a:srgbClr val="B23AF9"/>
    <a:srgbClr val="1A3172"/>
    <a:srgbClr val="FECB30"/>
    <a:srgbClr val="6F42FF"/>
    <a:srgbClr val="2AA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61" autoAdjust="0"/>
    <p:restoredTop sz="75485" autoAdjust="0"/>
  </p:normalViewPr>
  <p:slideViewPr>
    <p:cSldViewPr snapToGrid="0">
      <p:cViewPr varScale="1">
        <p:scale>
          <a:sx n="81" d="100"/>
          <a:sy n="81" d="100"/>
        </p:scale>
        <p:origin x="981" y="4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09957-232C-4C23-BD71-3CF7C12B4AAB}" type="datetimeFigureOut">
              <a:rPr lang="zh-CN" altLang="en-US" smtClean="0"/>
              <a:t>2026/7/22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8AB2E-B972-4F63-8917-8AA4D44F908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D8AB2E-B972-4F63-8917-8AA4D44F908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79A5D-9A63-612D-4282-3FCDCC42AB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7424C2-9966-3156-3B70-12C338A28BC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A570A30-04C5-9119-C1F1-4D2CDA56E87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B3E17CE-4DFF-4852-8044-4C09D644F3FC}"/>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43020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4CBBE-BBEB-2386-81BA-2A1A7F955E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BF859D-AD8A-FE9C-51F9-F39C77E99A4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CA99453-B086-A0A2-6392-DCB1D1F54C8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6C958E9-96B0-B02D-34CE-2FB0368DBE01}"/>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10310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F93F8-9B1A-B7B6-3DFC-5F65E260FE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D14D9E-000B-565D-1428-39DF40C1D37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609748A-7DF6-098C-3B3C-8708AE159C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FBF4783-9517-BA8B-56BA-F0233E880F51}"/>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53839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CF69-AFA5-5A73-3929-F5745D334D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AC7BBC-0B2E-C81A-DA1D-E1A512ADBDB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B17B9C-235C-0E99-1CFF-3FA204B7CD7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9F1905B-733B-EE45-95F9-547387ECDC09}"/>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16840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19A7-B363-FE76-7632-4C3DE3B15B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D4555E-8581-026F-80E7-299A5B70B75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40A6099-36E8-1988-BF99-0D57B28EA7E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E6BD16-283A-5D13-F363-F14AE530B2C9}"/>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7976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CB8ED-FA21-E28A-2A70-937FD92E67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5C91DB-B78E-853D-6FDC-2A89289E077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157E246-3F27-43B4-1A95-120528B6F07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40A1282-4E3B-09BF-17AD-CC0AEDDC2EE2}"/>
              </a:ext>
            </a:extLst>
          </p:cNvPr>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7D8E374D-6E28-41D4-B529-E46F9BB5955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14768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8236D-BA36-4C90-BC5E-4C81E9977708}"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341437" y="209880"/>
            <a:ext cx="10850563" cy="663575"/>
          </a:xfrm>
          <a:prstGeom prst="rect">
            <a:avLst/>
          </a:prstGeom>
        </p:spPr>
        <p:txBody>
          <a:bodyPr anchor="b"/>
          <a:lstStyle>
            <a:lvl1pPr>
              <a:defRPr sz="2400"/>
            </a:lvl1pPr>
          </a:lstStyle>
          <a:p>
            <a:r>
              <a:rPr lang="zh-CN" altLang="en-US"/>
              <a:t>单击此处编辑母版标题样式</a:t>
            </a:r>
          </a:p>
        </p:txBody>
      </p:sp>
      <p:sp>
        <p:nvSpPr>
          <p:cNvPr id="3" name="book-and-cd_43679"/>
          <p:cNvSpPr>
            <a:spLocks noChangeAspect="1"/>
          </p:cNvSpPr>
          <p:nvPr userDrawn="1"/>
        </p:nvSpPr>
        <p:spPr bwMode="auto">
          <a:xfrm>
            <a:off x="520658" y="414668"/>
            <a:ext cx="609685" cy="488288"/>
          </a:xfrm>
          <a:custGeom>
            <a:avLst/>
            <a:gdLst>
              <a:gd name="connsiteX0" fmla="*/ 452113 w 560604"/>
              <a:gd name="connsiteY0" fmla="*/ 77314 h 448980"/>
              <a:gd name="connsiteX1" fmla="*/ 417185 w 560604"/>
              <a:gd name="connsiteY1" fmla="*/ 112165 h 448980"/>
              <a:gd name="connsiteX2" fmla="*/ 452113 w 560604"/>
              <a:gd name="connsiteY2" fmla="*/ 145726 h 448980"/>
              <a:gd name="connsiteX3" fmla="*/ 485747 w 560604"/>
              <a:gd name="connsiteY3" fmla="*/ 112165 h 448980"/>
              <a:gd name="connsiteX4" fmla="*/ 452113 w 560604"/>
              <a:gd name="connsiteY4" fmla="*/ 77314 h 448980"/>
              <a:gd name="connsiteX5" fmla="*/ 118850 w 560604"/>
              <a:gd name="connsiteY5" fmla="*/ 64516 h 448980"/>
              <a:gd name="connsiteX6" fmla="*/ 40048 w 560604"/>
              <a:gd name="connsiteY6" fmla="*/ 77417 h 448980"/>
              <a:gd name="connsiteX7" fmla="*/ 40048 w 560604"/>
              <a:gd name="connsiteY7" fmla="*/ 392214 h 448980"/>
              <a:gd name="connsiteX8" fmla="*/ 107224 w 560604"/>
              <a:gd name="connsiteY8" fmla="*/ 380602 h 448980"/>
              <a:gd name="connsiteX9" fmla="*/ 255786 w 560604"/>
              <a:gd name="connsiteY9" fmla="*/ 412856 h 448980"/>
              <a:gd name="connsiteX10" fmla="*/ 255786 w 560604"/>
              <a:gd name="connsiteY10" fmla="*/ 277390 h 448980"/>
              <a:gd name="connsiteX11" fmla="*/ 246743 w 560604"/>
              <a:gd name="connsiteY11" fmla="*/ 287711 h 448980"/>
              <a:gd name="connsiteX12" fmla="*/ 246743 w 560604"/>
              <a:gd name="connsiteY12" fmla="*/ 109671 h 448980"/>
              <a:gd name="connsiteX13" fmla="*/ 118850 w 560604"/>
              <a:gd name="connsiteY13" fmla="*/ 64516 h 448980"/>
              <a:gd name="connsiteX14" fmla="*/ 452113 w 560604"/>
              <a:gd name="connsiteY14" fmla="*/ 64406 h 448980"/>
              <a:gd name="connsiteX15" fmla="*/ 498683 w 560604"/>
              <a:gd name="connsiteY15" fmla="*/ 112165 h 448980"/>
              <a:gd name="connsiteX16" fmla="*/ 452113 w 560604"/>
              <a:gd name="connsiteY16" fmla="*/ 158634 h 448980"/>
              <a:gd name="connsiteX17" fmla="*/ 404248 w 560604"/>
              <a:gd name="connsiteY17" fmla="*/ 112165 h 448980"/>
              <a:gd name="connsiteX18" fmla="*/ 452113 w 560604"/>
              <a:gd name="connsiteY18" fmla="*/ 64406 h 448980"/>
              <a:gd name="connsiteX19" fmla="*/ 452058 w 560604"/>
              <a:gd name="connsiteY19" fmla="*/ 59344 h 448980"/>
              <a:gd name="connsiteX20" fmla="*/ 399076 w 560604"/>
              <a:gd name="connsiteY20" fmla="*/ 112237 h 448980"/>
              <a:gd name="connsiteX21" fmla="*/ 452058 w 560604"/>
              <a:gd name="connsiteY21" fmla="*/ 163840 h 448980"/>
              <a:gd name="connsiteX22" fmla="*/ 505039 w 560604"/>
              <a:gd name="connsiteY22" fmla="*/ 112237 h 448980"/>
              <a:gd name="connsiteX23" fmla="*/ 452058 w 560604"/>
              <a:gd name="connsiteY23" fmla="*/ 59344 h 448980"/>
              <a:gd name="connsiteX24" fmla="*/ 118850 w 560604"/>
              <a:gd name="connsiteY24" fmla="*/ 50324 h 448980"/>
              <a:gd name="connsiteX25" fmla="*/ 257078 w 560604"/>
              <a:gd name="connsiteY25" fmla="*/ 99350 h 448980"/>
              <a:gd name="connsiteX26" fmla="*/ 334589 w 560604"/>
              <a:gd name="connsiteY26" fmla="*/ 58065 h 448980"/>
              <a:gd name="connsiteX27" fmla="*/ 329422 w 560604"/>
              <a:gd name="connsiteY27" fmla="*/ 76127 h 448980"/>
              <a:gd name="connsiteX28" fmla="*/ 268705 w 560604"/>
              <a:gd name="connsiteY28" fmla="*/ 109671 h 448980"/>
              <a:gd name="connsiteX29" fmla="*/ 268705 w 560604"/>
              <a:gd name="connsiteY29" fmla="*/ 287711 h 448980"/>
              <a:gd name="connsiteX30" fmla="*/ 259662 w 560604"/>
              <a:gd name="connsiteY30" fmla="*/ 277390 h 448980"/>
              <a:gd name="connsiteX31" fmla="*/ 259662 w 560604"/>
              <a:gd name="connsiteY31" fmla="*/ 412856 h 448980"/>
              <a:gd name="connsiteX32" fmla="*/ 405641 w 560604"/>
              <a:gd name="connsiteY32" fmla="*/ 380602 h 448980"/>
              <a:gd name="connsiteX33" fmla="*/ 475400 w 560604"/>
              <a:gd name="connsiteY33" fmla="*/ 392214 h 448980"/>
              <a:gd name="connsiteX34" fmla="*/ 475400 w 560604"/>
              <a:gd name="connsiteY34" fmla="*/ 233525 h 448980"/>
              <a:gd name="connsiteX35" fmla="*/ 510280 w 560604"/>
              <a:gd name="connsiteY35" fmla="*/ 221914 h 448980"/>
              <a:gd name="connsiteX36" fmla="*/ 510280 w 560604"/>
              <a:gd name="connsiteY36" fmla="*/ 437369 h 448980"/>
              <a:gd name="connsiteX37" fmla="*/ 290666 w 560604"/>
              <a:gd name="connsiteY37" fmla="*/ 437369 h 448980"/>
              <a:gd name="connsiteX38" fmla="*/ 258370 w 560604"/>
              <a:gd name="connsiteY38" fmla="*/ 448980 h 448980"/>
              <a:gd name="connsiteX39" fmla="*/ 226074 w 560604"/>
              <a:gd name="connsiteY39" fmla="*/ 437369 h 448980"/>
              <a:gd name="connsiteX40" fmla="*/ 0 w 560604"/>
              <a:gd name="connsiteY40" fmla="*/ 437369 h 448980"/>
              <a:gd name="connsiteX41" fmla="*/ 0 w 560604"/>
              <a:gd name="connsiteY41" fmla="*/ 113541 h 448980"/>
              <a:gd name="connsiteX42" fmla="*/ 24545 w 560604"/>
              <a:gd name="connsiteY42" fmla="*/ 96769 h 448980"/>
              <a:gd name="connsiteX43" fmla="*/ 24545 w 560604"/>
              <a:gd name="connsiteY43" fmla="*/ 67096 h 448980"/>
              <a:gd name="connsiteX44" fmla="*/ 29713 w 560604"/>
              <a:gd name="connsiteY44" fmla="*/ 65806 h 448980"/>
              <a:gd name="connsiteX45" fmla="*/ 118850 w 560604"/>
              <a:gd name="connsiteY45" fmla="*/ 50324 h 448980"/>
              <a:gd name="connsiteX46" fmla="*/ 449473 w 560604"/>
              <a:gd name="connsiteY46" fmla="*/ 0 h 448980"/>
              <a:gd name="connsiteX47" fmla="*/ 560604 w 560604"/>
              <a:gd name="connsiteY47" fmla="*/ 109657 h 448980"/>
              <a:gd name="connsiteX48" fmla="*/ 449473 w 560604"/>
              <a:gd name="connsiteY48" fmla="*/ 219313 h 448980"/>
              <a:gd name="connsiteX49" fmla="*/ 339634 w 560604"/>
              <a:gd name="connsiteY49" fmla="*/ 109657 h 448980"/>
              <a:gd name="connsiteX50" fmla="*/ 449473 w 560604"/>
              <a:gd name="connsiteY50" fmla="*/ 0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0604" h="448980">
                <a:moveTo>
                  <a:pt x="452113" y="77314"/>
                </a:moveTo>
                <a:cubicBezTo>
                  <a:pt x="432708" y="77314"/>
                  <a:pt x="417185" y="92804"/>
                  <a:pt x="417185" y="112165"/>
                </a:cubicBezTo>
                <a:cubicBezTo>
                  <a:pt x="417185" y="130237"/>
                  <a:pt x="432708" y="145726"/>
                  <a:pt x="452113" y="145726"/>
                </a:cubicBezTo>
                <a:cubicBezTo>
                  <a:pt x="471517" y="145726"/>
                  <a:pt x="485747" y="130237"/>
                  <a:pt x="485747" y="112165"/>
                </a:cubicBezTo>
                <a:cubicBezTo>
                  <a:pt x="485747" y="92804"/>
                  <a:pt x="470223" y="77314"/>
                  <a:pt x="452113" y="77314"/>
                </a:cubicBezTo>
                <a:close/>
                <a:moveTo>
                  <a:pt x="118850" y="64516"/>
                </a:moveTo>
                <a:cubicBezTo>
                  <a:pt x="81387" y="64516"/>
                  <a:pt x="50382" y="73547"/>
                  <a:pt x="40048" y="77417"/>
                </a:cubicBezTo>
                <a:lnTo>
                  <a:pt x="40048" y="392214"/>
                </a:lnTo>
                <a:cubicBezTo>
                  <a:pt x="58133" y="384473"/>
                  <a:pt x="81387" y="380602"/>
                  <a:pt x="107224" y="380602"/>
                </a:cubicBezTo>
                <a:cubicBezTo>
                  <a:pt x="171816" y="380602"/>
                  <a:pt x="236408" y="405115"/>
                  <a:pt x="255786" y="412856"/>
                </a:cubicBezTo>
                <a:lnTo>
                  <a:pt x="255786" y="277390"/>
                </a:lnTo>
                <a:lnTo>
                  <a:pt x="246743" y="287711"/>
                </a:lnTo>
                <a:lnTo>
                  <a:pt x="246743" y="109671"/>
                </a:lnTo>
                <a:cubicBezTo>
                  <a:pt x="211863" y="79997"/>
                  <a:pt x="169232" y="64516"/>
                  <a:pt x="118850" y="64516"/>
                </a:cubicBezTo>
                <a:close/>
                <a:moveTo>
                  <a:pt x="452113" y="64406"/>
                </a:moveTo>
                <a:cubicBezTo>
                  <a:pt x="477985" y="64406"/>
                  <a:pt x="498683" y="86350"/>
                  <a:pt x="498683" y="112165"/>
                </a:cubicBezTo>
                <a:cubicBezTo>
                  <a:pt x="498683" y="137981"/>
                  <a:pt x="477985" y="158634"/>
                  <a:pt x="452113" y="158634"/>
                </a:cubicBezTo>
                <a:cubicBezTo>
                  <a:pt x="426240" y="158634"/>
                  <a:pt x="404248" y="137981"/>
                  <a:pt x="404248" y="112165"/>
                </a:cubicBezTo>
                <a:cubicBezTo>
                  <a:pt x="404248" y="86350"/>
                  <a:pt x="426240" y="64406"/>
                  <a:pt x="452113" y="64406"/>
                </a:cubicBezTo>
                <a:close/>
                <a:moveTo>
                  <a:pt x="452058" y="59344"/>
                </a:moveTo>
                <a:cubicBezTo>
                  <a:pt x="422336" y="59344"/>
                  <a:pt x="399076" y="82565"/>
                  <a:pt x="399076" y="112237"/>
                </a:cubicBezTo>
                <a:cubicBezTo>
                  <a:pt x="399076" y="140618"/>
                  <a:pt x="422336" y="163840"/>
                  <a:pt x="452058" y="163840"/>
                </a:cubicBezTo>
                <a:cubicBezTo>
                  <a:pt x="480486" y="163840"/>
                  <a:pt x="505039" y="140618"/>
                  <a:pt x="505039" y="112237"/>
                </a:cubicBezTo>
                <a:cubicBezTo>
                  <a:pt x="505039" y="82565"/>
                  <a:pt x="480486" y="59344"/>
                  <a:pt x="452058" y="59344"/>
                </a:cubicBezTo>
                <a:close/>
                <a:moveTo>
                  <a:pt x="118850" y="50324"/>
                </a:moveTo>
                <a:cubicBezTo>
                  <a:pt x="173108" y="50324"/>
                  <a:pt x="219614" y="67096"/>
                  <a:pt x="257078" y="99350"/>
                </a:cubicBezTo>
                <a:cubicBezTo>
                  <a:pt x="280331" y="79997"/>
                  <a:pt x="306168" y="65806"/>
                  <a:pt x="334589" y="58065"/>
                </a:cubicBezTo>
                <a:cubicBezTo>
                  <a:pt x="332005" y="64516"/>
                  <a:pt x="330713" y="69676"/>
                  <a:pt x="329422" y="76127"/>
                </a:cubicBezTo>
                <a:cubicBezTo>
                  <a:pt x="307460" y="82578"/>
                  <a:pt x="286791" y="94189"/>
                  <a:pt x="268705" y="109671"/>
                </a:cubicBezTo>
                <a:lnTo>
                  <a:pt x="268705" y="287711"/>
                </a:lnTo>
                <a:lnTo>
                  <a:pt x="259662" y="277390"/>
                </a:lnTo>
                <a:lnTo>
                  <a:pt x="259662" y="412856"/>
                </a:lnTo>
                <a:cubicBezTo>
                  <a:pt x="279039" y="405115"/>
                  <a:pt x="339756" y="380602"/>
                  <a:pt x="405641" y="380602"/>
                </a:cubicBezTo>
                <a:cubicBezTo>
                  <a:pt x="431478" y="380602"/>
                  <a:pt x="454731" y="384473"/>
                  <a:pt x="475400" y="392214"/>
                </a:cubicBezTo>
                <a:lnTo>
                  <a:pt x="475400" y="233525"/>
                </a:lnTo>
                <a:cubicBezTo>
                  <a:pt x="488319" y="230945"/>
                  <a:pt x="499945" y="227074"/>
                  <a:pt x="510280" y="221914"/>
                </a:cubicBezTo>
                <a:lnTo>
                  <a:pt x="510280" y="437369"/>
                </a:lnTo>
                <a:lnTo>
                  <a:pt x="290666" y="437369"/>
                </a:lnTo>
                <a:cubicBezTo>
                  <a:pt x="282915" y="445110"/>
                  <a:pt x="271288" y="448980"/>
                  <a:pt x="258370" y="448980"/>
                </a:cubicBezTo>
                <a:cubicBezTo>
                  <a:pt x="245451" y="448980"/>
                  <a:pt x="233825" y="445110"/>
                  <a:pt x="226074" y="437369"/>
                </a:cubicBezTo>
                <a:lnTo>
                  <a:pt x="0" y="437369"/>
                </a:lnTo>
                <a:lnTo>
                  <a:pt x="0" y="113541"/>
                </a:lnTo>
                <a:cubicBezTo>
                  <a:pt x="0" y="105800"/>
                  <a:pt x="9043" y="100640"/>
                  <a:pt x="24545" y="96769"/>
                </a:cubicBezTo>
                <a:lnTo>
                  <a:pt x="24545" y="67096"/>
                </a:lnTo>
                <a:lnTo>
                  <a:pt x="29713" y="65806"/>
                </a:lnTo>
                <a:cubicBezTo>
                  <a:pt x="31005" y="64516"/>
                  <a:pt x="68468" y="50324"/>
                  <a:pt x="118850" y="50324"/>
                </a:cubicBezTo>
                <a:close/>
                <a:moveTo>
                  <a:pt x="449473" y="0"/>
                </a:moveTo>
                <a:cubicBezTo>
                  <a:pt x="510208" y="0"/>
                  <a:pt x="560604" y="49023"/>
                  <a:pt x="560604" y="109657"/>
                </a:cubicBezTo>
                <a:cubicBezTo>
                  <a:pt x="560604" y="170290"/>
                  <a:pt x="510208" y="219313"/>
                  <a:pt x="449473" y="219313"/>
                </a:cubicBezTo>
                <a:cubicBezTo>
                  <a:pt x="388739" y="219313"/>
                  <a:pt x="339634" y="170290"/>
                  <a:pt x="339634" y="109657"/>
                </a:cubicBezTo>
                <a:cubicBezTo>
                  <a:pt x="339634" y="49023"/>
                  <a:pt x="388739" y="0"/>
                  <a:pt x="449473" y="0"/>
                </a:cubicBezTo>
                <a:close/>
              </a:path>
            </a:pathLst>
          </a:custGeom>
          <a:solidFill>
            <a:srgbClr val="1A3172"/>
          </a:solidFill>
          <a:ln>
            <a:noFill/>
          </a:ln>
        </p:spPr>
        <p:txBody>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矩形 9"/>
          <p:cNvSpPr/>
          <p:nvPr userDrawn="1"/>
        </p:nvSpPr>
        <p:spPr>
          <a:xfrm>
            <a:off x="0" y="0"/>
            <a:ext cx="12192000" cy="3848100"/>
          </a:xfrm>
          <a:prstGeom prst="rect">
            <a:avLst/>
          </a:prstGeom>
          <a:solidFill>
            <a:srgbClr val="1A31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76F4B-A296-492A-8FB9-C78E7B25B44D}" type="datetimeFigureOut">
              <a:rPr lang="zh-CN" altLang="en-US" smtClean="0"/>
              <a:t>2026/7/22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8236D-BA36-4C90-BC5E-4C81E997770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7" name="矩形 116"/>
          <p:cNvSpPr/>
          <p:nvPr/>
        </p:nvSpPr>
        <p:spPr>
          <a:xfrm flipH="1">
            <a:off x="677419" y="598161"/>
            <a:ext cx="10825884" cy="5667826"/>
          </a:xfrm>
          <a:prstGeom prst="rect">
            <a:avLst/>
          </a:prstGeom>
          <a:blipFill dpi="0" rotWithShape="1">
            <a:blip r:embed="rId4">
              <a:alphaModFix amt="8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矩形 114"/>
          <p:cNvSpPr/>
          <p:nvPr/>
        </p:nvSpPr>
        <p:spPr>
          <a:xfrm>
            <a:off x="716532" y="4900965"/>
            <a:ext cx="10825884" cy="1408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grpSp>
        <p:nvGrpSpPr>
          <p:cNvPr id="132" name="组合 131"/>
          <p:cNvGrpSpPr/>
          <p:nvPr/>
        </p:nvGrpSpPr>
        <p:grpSpPr>
          <a:xfrm>
            <a:off x="1026052" y="5394358"/>
            <a:ext cx="2879011" cy="406487"/>
            <a:chOff x="1038752" y="5253033"/>
            <a:chExt cx="2879011" cy="406487"/>
          </a:xfrm>
        </p:grpSpPr>
        <p:grpSp>
          <p:nvGrpSpPr>
            <p:cNvPr id="131" name="组合 130"/>
            <p:cNvGrpSpPr/>
            <p:nvPr/>
          </p:nvGrpSpPr>
          <p:grpSpPr>
            <a:xfrm>
              <a:off x="1546569" y="5253033"/>
              <a:ext cx="1855688" cy="391431"/>
              <a:chOff x="1546569" y="5326964"/>
              <a:chExt cx="1855688" cy="317500"/>
            </a:xfrm>
          </p:grpSpPr>
          <p:sp>
            <p:nvSpPr>
              <p:cNvPr id="118" name="矩形 117"/>
              <p:cNvSpPr/>
              <p:nvPr/>
            </p:nvSpPr>
            <p:spPr>
              <a:xfrm>
                <a:off x="1692618" y="5326964"/>
                <a:ext cx="1571281" cy="317500"/>
              </a:xfrm>
              <a:prstGeom prst="rect">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1546569"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a:off x="3110157" y="5326964"/>
                <a:ext cx="292100" cy="317500"/>
              </a:xfrm>
              <a:prstGeom prst="ellipse">
                <a:avLst/>
              </a:prstGeom>
              <a:solidFill>
                <a:srgbClr val="FF9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4" name="文本占位符 1110"/>
            <p:cNvSpPr txBox="1"/>
            <p:nvPr/>
          </p:nvSpPr>
          <p:spPr>
            <a:xfrm>
              <a:off x="1038752" y="5268089"/>
              <a:ext cx="2879011" cy="391431"/>
            </a:xfrm>
            <a:prstGeom prst="rect">
              <a:avLst/>
            </a:prstGeom>
          </p:spPr>
          <p:txBody>
            <a:bodyPr vert="horz" lIns="91440" tIns="45720" rIns="91440" bIns="45720" rtlCol="0" anchor="ctr">
              <a:noAutofit/>
            </a:bodyPr>
            <a:lstStyle>
              <a:lvl1pPr marL="0" indent="0" algn="r" defTabSz="913765" rtl="0" eaLnBrk="1" latinLnBrk="0" hangingPunct="1">
                <a:lnSpc>
                  <a:spcPct val="90000"/>
                </a:lnSpc>
                <a:spcBef>
                  <a:spcPts val="1000"/>
                </a:spcBef>
                <a:buFont typeface="Arial" panose="020B0604020202020204" pitchFamily="34" charset="0"/>
                <a:buNone/>
                <a:defRPr sz="1500" b="0" kern="1200">
                  <a:solidFill>
                    <a:srgbClr val="08A0E2"/>
                  </a:solidFill>
                  <a:latin typeface="+mn-lt"/>
                  <a:ea typeface="+mn-ea"/>
                  <a:cs typeface="+mn-cs"/>
                </a:defRPr>
              </a:lvl1pPr>
              <a:lvl2pPr marL="457200" indent="0" algn="l" defTabSz="913765"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3765"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3765"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800"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latin typeface="宋体" panose="02010600030101010101" pitchFamily="2" charset="-122"/>
                  <a:ea typeface="宋体" panose="02010600030101010101" pitchFamily="2" charset="-122"/>
                </a:rPr>
                <a:t>汇报人：王越</a:t>
              </a:r>
              <a:endParaRPr kumimoji="0" lang="en-US" altLang="zh-CN" sz="1800" i="0" u="none" strike="noStrike" kern="1200" cap="none" spc="0" normalizeH="0" baseline="0" noProof="0" dirty="0">
                <a:ln>
                  <a:noFill/>
                </a:ln>
                <a:solidFill>
                  <a:schemeClr val="bg1"/>
                </a:solidFill>
                <a:effectLst>
                  <a:outerShdw blurRad="355600" dist="88900" dir="2700000" algn="tl" rotWithShape="0">
                    <a:prstClr val="black">
                      <a:alpha val="28000"/>
                    </a:prstClr>
                  </a:outerShdw>
                </a:effectLst>
                <a:uLnTx/>
                <a:uFillTx/>
                <a:latin typeface="宋体" panose="02010600030101010101" pitchFamily="2" charset="-122"/>
                <a:ea typeface="宋体" panose="02010600030101010101" pitchFamily="2" charset="-122"/>
              </a:endParaRPr>
            </a:p>
          </p:txBody>
        </p:sp>
      </p:grpSp>
      <p:cxnSp>
        <p:nvCxnSpPr>
          <p:cNvPr id="146" name="直接连接符 145"/>
          <p:cNvCxnSpPr/>
          <p:nvPr/>
        </p:nvCxnSpPr>
        <p:spPr>
          <a:xfrm>
            <a:off x="1651343" y="4943475"/>
            <a:ext cx="663232" cy="0"/>
          </a:xfrm>
          <a:prstGeom prst="line">
            <a:avLst/>
          </a:prstGeom>
          <a:ln w="38100">
            <a:solidFill>
              <a:srgbClr val="FF9C00"/>
            </a:solidFill>
          </a:ln>
        </p:spPr>
        <p:style>
          <a:lnRef idx="1">
            <a:schemeClr val="accent1"/>
          </a:lnRef>
          <a:fillRef idx="0">
            <a:schemeClr val="accent1"/>
          </a:fillRef>
          <a:effectRef idx="0">
            <a:schemeClr val="accent1"/>
          </a:effectRef>
          <a:fontRef idx="minor">
            <a:schemeClr val="tx1"/>
          </a:fontRef>
        </p:style>
      </p:cxnSp>
      <p:grpSp>
        <p:nvGrpSpPr>
          <p:cNvPr id="149" name="组合 148"/>
          <p:cNvGrpSpPr/>
          <p:nvPr/>
        </p:nvGrpSpPr>
        <p:grpSpPr>
          <a:xfrm>
            <a:off x="813144" y="2725425"/>
            <a:ext cx="6281320" cy="1611849"/>
            <a:chOff x="1533869" y="2891804"/>
            <a:chExt cx="6281320" cy="1611849"/>
          </a:xfrm>
        </p:grpSpPr>
        <p:sp>
          <p:nvSpPr>
            <p:cNvPr id="123" name="标题 1104"/>
            <p:cNvSpPr txBox="1"/>
            <p:nvPr/>
          </p:nvSpPr>
          <p:spPr>
            <a:xfrm>
              <a:off x="1533869" y="2891804"/>
              <a:ext cx="6188531" cy="478635"/>
            </a:xfrm>
            <a:prstGeom prst="rect">
              <a:avLst/>
            </a:prstGeom>
          </p:spPr>
          <p:txBody>
            <a:bodyPr vert="horz" lIns="91440" tIns="45720" rIns="91440" bIns="45720" rtlCol="0" anchor="ctr">
              <a:normAutofit/>
            </a:bodyPr>
            <a:lstStyle>
              <a:lvl1pPr algn="r" defTabSz="913765" rtl="0" eaLnBrk="1" latinLnBrk="0" hangingPunct="1">
                <a:lnSpc>
                  <a:spcPct val="90000"/>
                </a:lnSpc>
                <a:spcBef>
                  <a:spcPct val="0"/>
                </a:spcBef>
                <a:buNone/>
                <a:defRPr sz="4000" b="1" kern="1200">
                  <a:solidFill>
                    <a:srgbClr val="08A0E2"/>
                  </a:solidFill>
                  <a:latin typeface="+mj-lt"/>
                  <a:ea typeface="+mj-ea"/>
                  <a:cs typeface="+mj-cs"/>
                </a:defRPr>
              </a:lvl1pPr>
            </a:lstStyle>
            <a:p>
              <a:pPr marL="0" marR="0" lvl="0" indent="0" algn="l" defTabSz="913765" rtl="0" eaLnBrk="1" fontAlgn="auto" latinLnBrk="0" hangingPunct="1">
                <a:lnSpc>
                  <a:spcPct val="90000"/>
                </a:lnSpc>
                <a:spcBef>
                  <a:spcPct val="0"/>
                </a:spcBef>
                <a:spcAft>
                  <a:spcPts val="0"/>
                </a:spcAft>
                <a:buClrTx/>
                <a:buSzTx/>
                <a:buFontTx/>
                <a:buNone/>
                <a:defRPr/>
              </a:pPr>
              <a:endParaRPr kumimoji="0" lang="zh-CN" altLang="en-US" sz="2800" i="0" u="none" strike="noStrike" kern="1200" cap="none" spc="0" normalizeH="0" baseline="0" noProof="0" dirty="0">
                <a:ln>
                  <a:noFill/>
                </a:ln>
                <a:solidFill>
                  <a:schemeClr val="tx1">
                    <a:lumMod val="85000"/>
                    <a:lumOff val="15000"/>
                  </a:schemeClr>
                </a:solidFill>
                <a:uLnTx/>
                <a:uFillTx/>
                <a:latin typeface="站酷快乐体2016修订版" panose="02010600030101010101" pitchFamily="2" charset="-122"/>
                <a:ea typeface="站酷快乐体2016修订版" panose="02010600030101010101" pitchFamily="2" charset="-122"/>
              </a:endParaRPr>
            </a:p>
          </p:txBody>
        </p:sp>
        <p:sp>
          <p:nvSpPr>
            <p:cNvPr id="140" name="矩形 139"/>
            <p:cNvSpPr/>
            <p:nvPr/>
          </p:nvSpPr>
          <p:spPr>
            <a:xfrm>
              <a:off x="1533869" y="4126242"/>
              <a:ext cx="6281320" cy="377411"/>
            </a:xfrm>
            <a:prstGeom prst="rect">
              <a:avLst/>
            </a:prstGeom>
          </p:spPr>
          <p:txBody>
            <a:bodyPr wrap="square">
              <a:spAutoFit/>
            </a:bodyPr>
            <a:lstStyle/>
            <a:p>
              <a:pPr>
                <a:lnSpc>
                  <a:spcPct val="150000"/>
                </a:lnSpc>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 name="文本框 2">
            <a:extLst>
              <a:ext uri="{FF2B5EF4-FFF2-40B4-BE49-F238E27FC236}">
                <a16:creationId xmlns:a16="http://schemas.microsoft.com/office/drawing/2014/main" id="{204AEA63-C742-917A-86B9-378EE6C03EE6}"/>
              </a:ext>
            </a:extLst>
          </p:cNvPr>
          <p:cNvSpPr txBox="1"/>
          <p:nvPr/>
        </p:nvSpPr>
        <p:spPr>
          <a:xfrm>
            <a:off x="1330036" y="2317375"/>
            <a:ext cx="545101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0" b="1" dirty="0">
                <a:solidFill>
                  <a:srgbClr val="000000">
                    <a:lumMod val="85000"/>
                    <a:lumOff val="15000"/>
                  </a:srgbClr>
                </a:solidFill>
                <a:latin typeface="Arial"/>
                <a:ea typeface="微软雅黑"/>
              </a:rPr>
              <a:t>Idea</a:t>
            </a:r>
            <a:r>
              <a:rPr lang="zh-CN" altLang="en-US" sz="6000" b="1" dirty="0">
                <a:solidFill>
                  <a:srgbClr val="000000">
                    <a:lumMod val="85000"/>
                    <a:lumOff val="15000"/>
                  </a:srgbClr>
                </a:solidFill>
                <a:latin typeface="Arial"/>
                <a:ea typeface="微软雅黑"/>
              </a:rPr>
              <a:t>进度汇报</a:t>
            </a:r>
            <a:endParaRPr kumimoji="0" lang="en-US" altLang="zh-CN" sz="6000" b="1" i="0" u="none" strike="noStrike" kern="1200" cap="none" spc="0" normalizeH="0" baseline="0" noProof="0" dirty="0">
              <a:ln>
                <a:noFill/>
              </a:ln>
              <a:solidFill>
                <a:srgbClr val="000000">
                  <a:lumMod val="85000"/>
                  <a:lumOff val="15000"/>
                </a:srgbClr>
              </a:solidFill>
              <a:effectLst/>
              <a:uLnTx/>
              <a:uFillTx/>
              <a:latin typeface="Arial"/>
              <a:ea typeface="微软雅黑"/>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02AE-52C0-8EE4-62C5-9B2DEDEA46F0}"/>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67B550E4-63C8-05F6-6EEB-E0BDFCCF372B}"/>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CD538775-FB60-98DD-486A-E0E787628B51}"/>
              </a:ext>
            </a:extLst>
          </p:cNvPr>
          <p:cNvSpPr>
            <a:spLocks noGrp="1"/>
          </p:cNvSpPr>
          <p:nvPr>
            <p:ph type="title"/>
          </p:nvPr>
        </p:nvSpPr>
        <p:spPr>
          <a:xfrm>
            <a:off x="1341437" y="249463"/>
            <a:ext cx="10850563" cy="663575"/>
          </a:xfrm>
        </p:spPr>
        <p:txBody>
          <a:bodyPr/>
          <a:lstStyle/>
          <a:p>
            <a:r>
              <a:rPr lang="zh-CN" altLang="en-US" sz="2800" dirty="0"/>
              <a:t>相近的工作</a:t>
            </a:r>
          </a:p>
        </p:txBody>
      </p:sp>
      <p:sp>
        <p:nvSpPr>
          <p:cNvPr id="65" name="矩形 64">
            <a:extLst>
              <a:ext uri="{FF2B5EF4-FFF2-40B4-BE49-F238E27FC236}">
                <a16:creationId xmlns:a16="http://schemas.microsoft.com/office/drawing/2014/main" id="{F14962F1-1FAB-FF1E-5170-6D8DC71898D5}"/>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6" name="直接连接符 5">
            <a:extLst>
              <a:ext uri="{FF2B5EF4-FFF2-40B4-BE49-F238E27FC236}">
                <a16:creationId xmlns:a16="http://schemas.microsoft.com/office/drawing/2014/main" id="{74EC526F-B56A-7EF2-3FE5-6D5BFA2B6EC7}"/>
              </a:ext>
            </a:extLst>
          </p:cNvPr>
          <p:cNvCxnSpPr>
            <a:cxnSpLocks/>
          </p:cNvCxnSpPr>
          <p:nvPr/>
        </p:nvCxnSpPr>
        <p:spPr>
          <a:xfrm>
            <a:off x="5985361" y="1002170"/>
            <a:ext cx="0" cy="5251146"/>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E4A89F3A-A444-3002-7631-4B28F758CE3F}"/>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algn="ctr"/>
            <a:r>
              <a:rPr lang="en-US" altLang="zh-CN" sz="2400" b="1" dirty="0" err="1">
                <a:latin typeface="华文中宋" panose="02010600040101010101" pitchFamily="2" charset="-122"/>
                <a:ea typeface="华文中宋" panose="02010600040101010101" pitchFamily="2" charset="-122"/>
              </a:rPr>
              <a:t>MemSkill</a:t>
            </a:r>
            <a:endParaRPr lang="zh-CN" altLang="en-US" sz="2400" b="1"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F4CF026F-550F-AECD-31DF-A90ED3043006}"/>
              </a:ext>
            </a:extLst>
          </p:cNvPr>
          <p:cNvSpPr txBox="1"/>
          <p:nvPr/>
        </p:nvSpPr>
        <p:spPr>
          <a:xfrm>
            <a:off x="448351" y="1530711"/>
            <a:ext cx="3598606" cy="2424635"/>
          </a:xfrm>
          <a:prstGeom prst="rect">
            <a:avLst/>
          </a:prstGeom>
          <a:noFill/>
        </p:spPr>
        <p:txBody>
          <a:bodyPr wrap="square" lIns="90000" tIns="46800" rIns="90000" bIns="46800" rtlCol="0" anchor="ctr" anchorCtr="0">
            <a:normAutofit fontScale="92500" lnSpcReduction="10000"/>
          </a:bodyPr>
          <a:lstStyle/>
          <a:p>
            <a:pPr>
              <a:buFont typeface="Arial" panose="020B0604020202020204" pitchFamily="34" charset="0"/>
              <a:buChar char="•"/>
            </a:pPr>
            <a:r>
              <a:rPr lang="zh-CN" altLang="zh-CN" b="1" dirty="0">
                <a:latin typeface="华文中宋" panose="02010600040101010101" pitchFamily="2" charset="-122"/>
                <a:ea typeface="华文中宋" panose="02010600040101010101" pitchFamily="2" charset="-122"/>
              </a:rPr>
              <a:t>Memory Skill Bank</a:t>
            </a:r>
            <a:r>
              <a:rPr lang="zh-CN" altLang="zh-CN" dirty="0">
                <a:latin typeface="华文中宋" panose="02010600040101010101" pitchFamily="2" charset="-122"/>
                <a:ea typeface="华文中宋" panose="02010600040101010101" pitchFamily="2" charset="-122"/>
              </a:rPr>
              <a:t> 存储自然语言形式的 memory operation skill。 </a:t>
            </a:r>
          </a:p>
          <a:p>
            <a:pPr>
              <a:buFont typeface="Arial" panose="020B0604020202020204" pitchFamily="34" charset="0"/>
              <a:buChar char="•"/>
            </a:pPr>
            <a:r>
              <a:rPr lang="zh-CN" altLang="zh-CN" b="1" dirty="0">
                <a:latin typeface="华文中宋" panose="02010600040101010101" pitchFamily="2" charset="-122"/>
                <a:ea typeface="华文中宋" panose="02010600040101010101" pitchFamily="2" charset="-122"/>
              </a:rPr>
              <a:t>Skill Controller</a:t>
            </a:r>
            <a:r>
              <a:rPr lang="zh-CN" altLang="zh-CN" dirty="0">
                <a:latin typeface="华文中宋" panose="02010600040101010101" pitchFamily="2" charset="-122"/>
                <a:ea typeface="华文中宋" panose="02010600040101010101" pitchFamily="2" charset="-122"/>
              </a:rPr>
              <a:t> 根据当前 memory construction 场景选择 Skill。 </a:t>
            </a:r>
          </a:p>
          <a:p>
            <a:pPr>
              <a:buFont typeface="Arial" panose="020B0604020202020204" pitchFamily="34" charset="0"/>
              <a:buChar char="•"/>
            </a:pPr>
            <a:r>
              <a:rPr lang="zh-CN" altLang="zh-CN" b="1" dirty="0">
                <a:latin typeface="华文中宋" panose="02010600040101010101" pitchFamily="2" charset="-122"/>
                <a:ea typeface="华文中宋" panose="02010600040101010101" pitchFamily="2" charset="-122"/>
              </a:rPr>
              <a:t>Skill Designer</a:t>
            </a:r>
            <a:r>
              <a:rPr lang="zh-CN" altLang="zh-CN" dirty="0">
                <a:latin typeface="华文中宋" panose="02010600040101010101" pitchFamily="2" charset="-122"/>
                <a:ea typeface="华文中宋" panose="02010600040101010101" pitchFamily="2" charset="-122"/>
              </a:rPr>
              <a:t> 根据失败案例反思并更新 Skill。 </a:t>
            </a:r>
          </a:p>
          <a:p>
            <a:pPr>
              <a:buFont typeface="Arial" panose="020B0604020202020204" pitchFamily="34" charset="0"/>
              <a:buChar char="•"/>
            </a:pPr>
            <a:r>
              <a:rPr lang="zh-CN" altLang="zh-CN" b="1" dirty="0">
                <a:latin typeface="华文中宋" panose="02010600040101010101" pitchFamily="2" charset="-122"/>
                <a:ea typeface="华文中宋" panose="02010600040101010101" pitchFamily="2" charset="-122"/>
              </a:rPr>
              <a:t>PPO Training</a:t>
            </a:r>
            <a:r>
              <a:rPr lang="zh-CN" altLang="zh-CN" dirty="0">
                <a:latin typeface="华文中宋" panose="02010600040101010101" pitchFamily="2" charset="-122"/>
                <a:ea typeface="华文中宋" panose="02010600040101010101" pitchFamily="2" charset="-122"/>
              </a:rPr>
              <a:t> 优化 Skill selection policy。</a:t>
            </a:r>
          </a:p>
        </p:txBody>
      </p:sp>
      <p:sp>
        <p:nvSpPr>
          <p:cNvPr id="9" name="文本框 8">
            <a:extLst>
              <a:ext uri="{FF2B5EF4-FFF2-40B4-BE49-F238E27FC236}">
                <a16:creationId xmlns:a16="http://schemas.microsoft.com/office/drawing/2014/main" id="{BC960583-1352-3A79-2044-309F279B2372}"/>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algn="ctr"/>
            <a:r>
              <a:rPr lang="zh-CN" altLang="en-US" dirty="0">
                <a:solidFill>
                  <a:srgbClr val="FF0000"/>
                </a:solidFill>
                <a:latin typeface="华文中宋" panose="02010600040101010101" pitchFamily="2" charset="-122"/>
                <a:ea typeface="华文中宋" panose="02010600040101010101" pitchFamily="2" charset="-122"/>
              </a:rPr>
              <a:t>需要训练！</a:t>
            </a:r>
          </a:p>
        </p:txBody>
      </p:sp>
      <p:sp>
        <p:nvSpPr>
          <p:cNvPr id="10" name="文本框 9">
            <a:extLst>
              <a:ext uri="{FF2B5EF4-FFF2-40B4-BE49-F238E27FC236}">
                <a16:creationId xmlns:a16="http://schemas.microsoft.com/office/drawing/2014/main" id="{E0F91268-72EC-7364-74F2-72F56B9BAD03}"/>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r>
              <a:rPr lang="zh-CN" altLang="en-US" dirty="0">
                <a:latin typeface="华文中宋" panose="02010600040101010101" pitchFamily="2" charset="-122"/>
                <a:ea typeface="华文中宋" panose="02010600040101010101" pitchFamily="2" charset="-122"/>
              </a:rPr>
              <a:t>数据集划分：采用</a:t>
            </a:r>
            <a:r>
              <a:rPr lang="en-US" altLang="zh-CN" dirty="0" err="1">
                <a:latin typeface="华文中宋" panose="02010600040101010101" pitchFamily="2" charset="-122"/>
                <a:ea typeface="华文中宋" panose="02010600040101010101" pitchFamily="2" charset="-122"/>
              </a:rPr>
              <a:t>Locomo</a:t>
            </a:r>
            <a:r>
              <a:rPr lang="zh-CN" altLang="en-US" dirty="0">
                <a:latin typeface="华文中宋" panose="02010600040101010101" pitchFamily="2" charset="-122"/>
                <a:ea typeface="华文中宋" panose="02010600040101010101" pitchFamily="2" charset="-122"/>
              </a:rPr>
              <a:t>数据集，以对话为单位进行数据集切分，训练集：测试集：评测集</a:t>
            </a:r>
            <a:r>
              <a:rPr lang="en-US" altLang="zh-CN" dirty="0">
                <a:latin typeface="华文中宋" panose="02010600040101010101" pitchFamily="2" charset="-122"/>
                <a:ea typeface="华文中宋" panose="02010600040101010101" pitchFamily="2" charset="-122"/>
              </a:rPr>
              <a:t>=6</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4E60DE67-C5E5-111A-F1A1-5D635E472DBF}"/>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algn="ctr"/>
            <a:r>
              <a:rPr lang="en-US" altLang="zh-CN" sz="2400" b="1" dirty="0" err="1">
                <a:latin typeface="华文中宋" panose="02010600040101010101" pitchFamily="2" charset="-122"/>
                <a:ea typeface="华文中宋" panose="02010600040101010101" pitchFamily="2" charset="-122"/>
              </a:rPr>
              <a:t>MetaReflection</a:t>
            </a:r>
            <a:endParaRPr lang="zh-CN" altLang="en-US" sz="2400" b="1" dirty="0">
              <a:latin typeface="华文中宋" panose="02010600040101010101" pitchFamily="2" charset="-122"/>
              <a:ea typeface="华文中宋" panose="02010600040101010101" pitchFamily="2" charset="-122"/>
            </a:endParaRPr>
          </a:p>
        </p:txBody>
      </p:sp>
      <p:sp>
        <p:nvSpPr>
          <p:cNvPr id="12" name="文本框 11">
            <a:extLst>
              <a:ext uri="{FF2B5EF4-FFF2-40B4-BE49-F238E27FC236}">
                <a16:creationId xmlns:a16="http://schemas.microsoft.com/office/drawing/2014/main" id="{BD607398-783B-6429-E00B-CC30A1724314}"/>
              </a:ext>
            </a:extLst>
          </p:cNvPr>
          <p:cNvSpPr txBox="1"/>
          <p:nvPr/>
        </p:nvSpPr>
        <p:spPr>
          <a:xfrm>
            <a:off x="6937641" y="1530711"/>
            <a:ext cx="2754999" cy="2967375"/>
          </a:xfrm>
          <a:prstGeom prst="rect">
            <a:avLst/>
          </a:prstGeom>
          <a:noFill/>
        </p:spPr>
        <p:txBody>
          <a:bodyPr wrap="square" lIns="90000" tIns="46800" rIns="90000" bIns="46800" rtlCol="0" anchor="ctr" anchorCtr="0">
            <a:normAutofit/>
          </a:bodyPr>
          <a:lstStyle/>
          <a:p>
            <a:pPr algn="ctr"/>
            <a:r>
              <a:rPr lang="en-US" altLang="zh-CN" dirty="0">
                <a:latin typeface="华文中宋" panose="02010600040101010101" pitchFamily="2" charset="-122"/>
                <a:ea typeface="华文中宋" panose="02010600040101010101" pitchFamily="2" charset="-122"/>
              </a:rPr>
              <a:t>Agent failure</a:t>
            </a:r>
          </a:p>
          <a:p>
            <a:pPr algn="ctr"/>
            <a:r>
              <a:rPr lang="en-US" altLang="zh-CN" dirty="0">
                <a:latin typeface="华文中宋" panose="02010600040101010101" pitchFamily="2" charset="-122"/>
                <a:ea typeface="华文中宋" panose="02010600040101010101" pitchFamily="2" charset="-122"/>
              </a:rPr>
              <a:t>↓</a:t>
            </a:r>
          </a:p>
          <a:p>
            <a:pPr algn="ctr"/>
            <a:r>
              <a:rPr lang="en-US" altLang="zh-CN" dirty="0">
                <a:latin typeface="华文中宋" panose="02010600040101010101" pitchFamily="2" charset="-122"/>
                <a:ea typeface="华文中宋" panose="02010600040101010101" pitchFamily="2" charset="-122"/>
              </a:rPr>
              <a:t>Reflection</a:t>
            </a:r>
          </a:p>
          <a:p>
            <a:pPr algn="ctr"/>
            <a:r>
              <a:rPr lang="en-US" altLang="zh-CN" dirty="0">
                <a:latin typeface="华文中宋" panose="02010600040101010101" pitchFamily="2" charset="-122"/>
                <a:ea typeface="华文中宋" panose="02010600040101010101" pitchFamily="2" charset="-122"/>
              </a:rPr>
              <a:t>↓</a:t>
            </a:r>
          </a:p>
          <a:p>
            <a:pPr algn="ctr"/>
            <a:r>
              <a:rPr lang="en-US" altLang="zh-CN" dirty="0">
                <a:latin typeface="华文中宋" panose="02010600040101010101" pitchFamily="2" charset="-122"/>
                <a:ea typeface="华文中宋" panose="02010600040101010101" pitchFamily="2" charset="-122"/>
              </a:rPr>
              <a:t>General instruction</a:t>
            </a:r>
          </a:p>
          <a:p>
            <a:pPr algn="ctr"/>
            <a:r>
              <a:rPr lang="en-US" altLang="zh-CN" dirty="0">
                <a:latin typeface="华文中宋" panose="02010600040101010101" pitchFamily="2" charset="-122"/>
                <a:ea typeface="华文中宋" panose="02010600040101010101" pitchFamily="2" charset="-122"/>
              </a:rPr>
              <a:t>↓</a:t>
            </a:r>
          </a:p>
          <a:p>
            <a:pPr algn="ctr"/>
            <a:r>
              <a:rPr lang="en-US" altLang="zh-CN" dirty="0">
                <a:latin typeface="华文中宋" panose="02010600040101010101" pitchFamily="2" charset="-122"/>
                <a:ea typeface="华文中宋" panose="02010600040101010101" pitchFamily="2" charset="-122"/>
              </a:rPr>
              <a:t>Future task improvement</a:t>
            </a:r>
            <a:endParaRPr lang="zh-CN" altLang="en-US" dirty="0">
              <a:latin typeface="华文中宋" panose="02010600040101010101" pitchFamily="2" charset="-122"/>
              <a:ea typeface="华文中宋" panose="02010600040101010101" pitchFamily="2" charset="-122"/>
            </a:endParaRPr>
          </a:p>
        </p:txBody>
      </p:sp>
      <p:sp>
        <p:nvSpPr>
          <p:cNvPr id="13" name="文本框 12">
            <a:extLst>
              <a:ext uri="{FF2B5EF4-FFF2-40B4-BE49-F238E27FC236}">
                <a16:creationId xmlns:a16="http://schemas.microsoft.com/office/drawing/2014/main" id="{B34FC27E-A897-3733-C00B-6B7904A23AC3}"/>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algn="ctr"/>
            <a:r>
              <a:rPr lang="zh-CN" altLang="en-US" dirty="0">
                <a:latin typeface="华文中宋" panose="02010600040101010101" pitchFamily="2" charset="-122"/>
                <a:ea typeface="华文中宋" panose="02010600040101010101" pitchFamily="2" charset="-122"/>
              </a:rPr>
              <a:t>总结为语义级的经验</a:t>
            </a:r>
          </a:p>
        </p:txBody>
      </p:sp>
    </p:spTree>
    <p:extLst>
      <p:ext uri="{BB962C8B-B14F-4D97-AF65-F5344CB8AC3E}">
        <p14:creationId xmlns:p14="http://schemas.microsoft.com/office/powerpoint/2010/main" val="2257559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AF1B0-8C27-E266-7A3C-D6FE164B3712}"/>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72701FF4-EDD4-A5DA-D96F-E0947433A487}"/>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37311360-B6F9-8A6C-1E9F-950536917730}"/>
              </a:ext>
            </a:extLst>
          </p:cNvPr>
          <p:cNvSpPr>
            <a:spLocks noGrp="1"/>
          </p:cNvSpPr>
          <p:nvPr>
            <p:ph type="title"/>
          </p:nvPr>
        </p:nvSpPr>
        <p:spPr>
          <a:xfrm>
            <a:off x="1341437" y="249463"/>
            <a:ext cx="10850563" cy="663575"/>
          </a:xfrm>
        </p:spPr>
        <p:txBody>
          <a:bodyPr/>
          <a:lstStyle/>
          <a:p>
            <a:r>
              <a:rPr lang="zh-CN" altLang="en-US" sz="2800" dirty="0"/>
              <a:t>我们的定位</a:t>
            </a:r>
          </a:p>
        </p:txBody>
      </p:sp>
      <p:sp>
        <p:nvSpPr>
          <p:cNvPr id="65" name="矩形 64">
            <a:extLst>
              <a:ext uri="{FF2B5EF4-FFF2-40B4-BE49-F238E27FC236}">
                <a16:creationId xmlns:a16="http://schemas.microsoft.com/office/drawing/2014/main" id="{C4593F34-3B7C-97B0-E200-DAAC733188FC}"/>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4EBA932B-957B-0D7F-4DFD-87C662782D76}"/>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D3D30513-670A-F9C9-6D88-0E5FD3EE376F}"/>
              </a:ext>
            </a:extLst>
          </p:cNvPr>
          <p:cNvSpPr txBox="1"/>
          <p:nvPr/>
        </p:nvSpPr>
        <p:spPr>
          <a:xfrm>
            <a:off x="448351" y="1530711"/>
            <a:ext cx="3598606" cy="2424635"/>
          </a:xfrm>
          <a:prstGeom prst="rect">
            <a:avLst/>
          </a:prstGeom>
          <a:noFill/>
        </p:spPr>
        <p:txBody>
          <a:bodyPr wrap="square" lIns="90000" tIns="46800" rIns="90000" bIns="46800" rtlCol="0" anchor="ctr" anchorCtr="0">
            <a:normAutofit/>
          </a:bodyPr>
          <a:lstStyle/>
          <a:p>
            <a:endParaRPr lang="zh-CN" altLang="zh-CN" dirty="0">
              <a:latin typeface="华文中宋" panose="02010600040101010101" pitchFamily="2" charset="-122"/>
              <a:ea typeface="华文中宋" panose="02010600040101010101" pitchFamily="2" charset="-122"/>
            </a:endParaRPr>
          </a:p>
        </p:txBody>
      </p:sp>
      <p:sp>
        <p:nvSpPr>
          <p:cNvPr id="9" name="文本框 8">
            <a:extLst>
              <a:ext uri="{FF2B5EF4-FFF2-40B4-BE49-F238E27FC236}">
                <a16:creationId xmlns:a16="http://schemas.microsoft.com/office/drawing/2014/main" id="{2350DA6B-99BA-E198-7D78-ABD87396A637}"/>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algn="ct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56EFF9C8-304C-F489-D619-3684D729F02D}"/>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8CBB3D60-F8CD-8222-7611-52EE3617BD09}"/>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12" name="文本框 11">
            <a:extLst>
              <a:ext uri="{FF2B5EF4-FFF2-40B4-BE49-F238E27FC236}">
                <a16:creationId xmlns:a16="http://schemas.microsoft.com/office/drawing/2014/main" id="{6577C105-E602-6C9D-E596-072E00BD61FD}"/>
              </a:ext>
            </a:extLst>
          </p:cNvPr>
          <p:cNvSpPr txBox="1"/>
          <p:nvPr/>
        </p:nvSpPr>
        <p:spPr>
          <a:xfrm>
            <a:off x="7344697" y="1404047"/>
            <a:ext cx="2754999" cy="2967375"/>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13" name="文本框 12">
            <a:extLst>
              <a:ext uri="{FF2B5EF4-FFF2-40B4-BE49-F238E27FC236}">
                <a16:creationId xmlns:a16="http://schemas.microsoft.com/office/drawing/2014/main" id="{A282FE8B-A53F-7FC7-08F2-70027111DC4E}"/>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1D7164C5-C97F-9B7C-1C7F-836A39EEE108}"/>
              </a:ext>
            </a:extLst>
          </p:cNvPr>
          <p:cNvSpPr txBox="1"/>
          <p:nvPr/>
        </p:nvSpPr>
        <p:spPr>
          <a:xfrm>
            <a:off x="752537" y="1562011"/>
            <a:ext cx="3542943" cy="3648727"/>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F62056F0-AF49-5CA5-4798-409B15CA962D}"/>
              </a:ext>
            </a:extLst>
          </p:cNvPr>
          <p:cNvSpPr txBox="1"/>
          <p:nvPr/>
        </p:nvSpPr>
        <p:spPr>
          <a:xfrm>
            <a:off x="1454319" y="1412998"/>
            <a:ext cx="9111930" cy="3648726"/>
          </a:xfrm>
          <a:prstGeom prst="rect">
            <a:avLst/>
          </a:prstGeom>
          <a:noFill/>
        </p:spPr>
        <p:txBody>
          <a:bodyPr wrap="square" lIns="90000" tIns="46800" rIns="90000" bIns="46800" rtlCol="0" anchor="ctr" anchorCtr="0">
            <a:normAutofit fontScale="62500" lnSpcReduction="20000"/>
          </a:bodyPr>
          <a:lstStyle/>
          <a:p>
            <a:pPr>
              <a:lnSpc>
                <a:spcPct val="170000"/>
              </a:lnSpc>
            </a:pPr>
            <a:r>
              <a:rPr lang="en-US" altLang="zh-CN" sz="2900" dirty="0">
                <a:latin typeface="华文中宋" panose="02010600040101010101" pitchFamily="2" charset="-122"/>
                <a:ea typeface="华文中宋" panose="02010600040101010101" pitchFamily="2" charset="-122"/>
              </a:rPr>
              <a:t>MiM</a:t>
            </a:r>
            <a:r>
              <a:rPr lang="zh-CN" altLang="en-US" sz="2900" dirty="0">
                <a:latin typeface="华文中宋" panose="02010600040101010101" pitchFamily="2" charset="-122"/>
                <a:ea typeface="华文中宋" panose="02010600040101010101" pitchFamily="2" charset="-122"/>
              </a:rPr>
              <a:t>不是要构造一个记忆系统，而是一种面向</a:t>
            </a:r>
            <a:r>
              <a:rPr lang="zh-CN" altLang="zh-CN" sz="2900" b="1" dirty="0">
                <a:latin typeface="华文中宋" panose="02010600040101010101" pitchFamily="2" charset="-122"/>
                <a:ea typeface="华文中宋" panose="02010600040101010101" pitchFamily="2" charset="-122"/>
              </a:rPr>
              <a:t>由大语言模型参与记忆构建与记忆访问决策的智能体记忆系统</a:t>
            </a:r>
            <a:r>
              <a:rPr lang="zh-CN" altLang="en-US" sz="2900" dirty="0">
                <a:latin typeface="华文中宋" panose="02010600040101010101" pitchFamily="2" charset="-122"/>
                <a:ea typeface="华文中宋" panose="02010600040101010101" pitchFamily="2" charset="-122"/>
              </a:rPr>
              <a:t>的功能插件。他在记忆基座系统进行工作时收集错误轨迹并进行归因分析，并总结为可复用的元记忆技能</a:t>
            </a:r>
            <a:endParaRPr lang="en-US" altLang="zh-CN" sz="2900" dirty="0">
              <a:latin typeface="华文中宋" panose="02010600040101010101" pitchFamily="2" charset="-122"/>
              <a:ea typeface="华文中宋" panose="02010600040101010101" pitchFamily="2" charset="-122"/>
            </a:endParaRPr>
          </a:p>
          <a:p>
            <a:pPr>
              <a:lnSpc>
                <a:spcPct val="170000"/>
              </a:lnSpc>
            </a:pPr>
            <a:endParaRPr lang="en-US" altLang="zh-CN" sz="2900" dirty="0">
              <a:latin typeface="华文中宋" panose="02010600040101010101" pitchFamily="2" charset="-122"/>
              <a:ea typeface="华文中宋" panose="02010600040101010101" pitchFamily="2" charset="-122"/>
            </a:endParaRPr>
          </a:p>
          <a:p>
            <a:pPr>
              <a:lnSpc>
                <a:spcPct val="170000"/>
              </a:lnSpc>
            </a:pPr>
            <a:r>
              <a:rPr lang="zh-CN" altLang="en-US" sz="2900" dirty="0">
                <a:latin typeface="华文中宋" panose="02010600040101010101" pitchFamily="2" charset="-122"/>
                <a:ea typeface="华文中宋" panose="02010600040101010101" pitchFamily="2" charset="-122"/>
              </a:rPr>
              <a:t>重点强调：</a:t>
            </a:r>
            <a:endParaRPr lang="en-US" altLang="zh-CN" sz="2900" dirty="0">
              <a:latin typeface="华文中宋" panose="02010600040101010101" pitchFamily="2" charset="-122"/>
              <a:ea typeface="华文中宋" panose="02010600040101010101" pitchFamily="2" charset="-122"/>
            </a:endParaRPr>
          </a:p>
          <a:p>
            <a:pPr>
              <a:lnSpc>
                <a:spcPct val="170000"/>
              </a:lnSpc>
            </a:pPr>
            <a:r>
              <a:rPr lang="en-US" altLang="zh-CN" sz="2900" dirty="0">
                <a:latin typeface="华文中宋" panose="02010600040101010101" pitchFamily="2" charset="-122"/>
                <a:ea typeface="华文中宋" panose="02010600040101010101" pitchFamily="2" charset="-122"/>
              </a:rPr>
              <a:t>1.</a:t>
            </a:r>
            <a:r>
              <a:rPr lang="zh-CN" altLang="en-US" sz="2900" dirty="0">
                <a:latin typeface="华文中宋" panose="02010600040101010101" pitchFamily="2" charset="-122"/>
                <a:ea typeface="华文中宋" panose="02010600040101010101" pitchFamily="2" charset="-122"/>
              </a:rPr>
              <a:t>可插拔</a:t>
            </a:r>
            <a:endParaRPr lang="en-US" altLang="zh-CN" sz="2900" dirty="0">
              <a:latin typeface="华文中宋" panose="02010600040101010101" pitchFamily="2" charset="-122"/>
              <a:ea typeface="华文中宋" panose="02010600040101010101" pitchFamily="2" charset="-122"/>
            </a:endParaRPr>
          </a:p>
          <a:p>
            <a:pPr>
              <a:lnSpc>
                <a:spcPct val="170000"/>
              </a:lnSpc>
            </a:pPr>
            <a:r>
              <a:rPr lang="en-US" altLang="zh-CN" sz="2900" dirty="0">
                <a:latin typeface="华文中宋" panose="02010600040101010101" pitchFamily="2" charset="-122"/>
                <a:ea typeface="华文中宋" panose="02010600040101010101" pitchFamily="2" charset="-122"/>
              </a:rPr>
              <a:t>2.</a:t>
            </a:r>
            <a:r>
              <a:rPr lang="zh-CN" altLang="en-US" sz="2900" dirty="0">
                <a:latin typeface="华文中宋" panose="02010600040101010101" pitchFamily="2" charset="-122"/>
                <a:ea typeface="华文中宋" panose="02010600040101010101" pitchFamily="2" charset="-122"/>
              </a:rPr>
              <a:t>具有泛化性，适用于多种记忆系统</a:t>
            </a:r>
            <a:endParaRPr lang="en-US" altLang="zh-CN" sz="2900" dirty="0">
              <a:latin typeface="华文中宋" panose="02010600040101010101" pitchFamily="2" charset="-122"/>
              <a:ea typeface="华文中宋" panose="02010600040101010101" pitchFamily="2" charset="-122"/>
            </a:endParaRPr>
          </a:p>
          <a:p>
            <a:pPr>
              <a:lnSpc>
                <a:spcPct val="170000"/>
              </a:lnSpc>
            </a:pPr>
            <a:r>
              <a:rPr lang="en-US" altLang="zh-CN" sz="2900" dirty="0">
                <a:latin typeface="华文中宋" panose="02010600040101010101" pitchFamily="2" charset="-122"/>
                <a:ea typeface="华文中宋" panose="02010600040101010101" pitchFamily="2" charset="-122"/>
              </a:rPr>
              <a:t>3.</a:t>
            </a:r>
            <a:r>
              <a:rPr lang="zh-CN" altLang="en-US" sz="2900" dirty="0">
                <a:latin typeface="华文中宋" panose="02010600040101010101" pitchFamily="2" charset="-122"/>
                <a:ea typeface="华文中宋" panose="02010600040101010101" pitchFamily="2" charset="-122"/>
              </a:rPr>
              <a:t>无需参数化训练</a:t>
            </a:r>
            <a:endParaRPr lang="en-US" altLang="zh-CN" sz="2900" dirty="0">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583877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2173C-330C-165B-119C-40DA38A31E6B}"/>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B053F7D1-6405-2E98-F991-D026E88B7013}"/>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7429F066-B27E-40E8-C87D-892C7B1AD1ED}"/>
              </a:ext>
            </a:extLst>
          </p:cNvPr>
          <p:cNvSpPr>
            <a:spLocks noGrp="1"/>
          </p:cNvSpPr>
          <p:nvPr>
            <p:ph type="title"/>
          </p:nvPr>
        </p:nvSpPr>
        <p:spPr>
          <a:xfrm>
            <a:off x="1341437" y="249463"/>
            <a:ext cx="10850563" cy="663575"/>
          </a:xfrm>
        </p:spPr>
        <p:txBody>
          <a:bodyPr/>
          <a:lstStyle/>
          <a:p>
            <a:r>
              <a:rPr lang="en-US" altLang="zh-CN" sz="2800" dirty="0"/>
              <a:t>MiM</a:t>
            </a:r>
            <a:r>
              <a:rPr lang="zh-CN" altLang="en-US" sz="2800" dirty="0"/>
              <a:t>基本框架</a:t>
            </a:r>
          </a:p>
        </p:txBody>
      </p:sp>
      <p:sp>
        <p:nvSpPr>
          <p:cNvPr id="65" name="矩形 64">
            <a:extLst>
              <a:ext uri="{FF2B5EF4-FFF2-40B4-BE49-F238E27FC236}">
                <a16:creationId xmlns:a16="http://schemas.microsoft.com/office/drawing/2014/main" id="{8047F30A-F976-1C75-88BE-C78BB2D265D8}"/>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EA6472EA-7E2F-C3CD-9BDF-C2B78FF2D07E}"/>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DA40AF17-9711-8F63-E82F-9B4577A6F061}"/>
              </a:ext>
            </a:extLst>
          </p:cNvPr>
          <p:cNvSpPr txBox="1"/>
          <p:nvPr/>
        </p:nvSpPr>
        <p:spPr>
          <a:xfrm>
            <a:off x="448351" y="1530711"/>
            <a:ext cx="3598606" cy="2424635"/>
          </a:xfrm>
          <a:prstGeom prst="rect">
            <a:avLst/>
          </a:prstGeom>
          <a:noFill/>
        </p:spPr>
        <p:txBody>
          <a:bodyPr wrap="square" lIns="90000" tIns="46800" rIns="90000" bIns="46800" rtlCol="0" anchor="ctr" anchorCtr="0">
            <a:normAutofit/>
          </a:bodyPr>
          <a:lstStyle/>
          <a:p>
            <a:endParaRPr lang="zh-CN" altLang="zh-CN" dirty="0">
              <a:latin typeface="华文中宋" panose="02010600040101010101" pitchFamily="2" charset="-122"/>
              <a:ea typeface="华文中宋" panose="02010600040101010101" pitchFamily="2" charset="-122"/>
            </a:endParaRPr>
          </a:p>
        </p:txBody>
      </p:sp>
      <p:sp>
        <p:nvSpPr>
          <p:cNvPr id="9" name="文本框 8">
            <a:extLst>
              <a:ext uri="{FF2B5EF4-FFF2-40B4-BE49-F238E27FC236}">
                <a16:creationId xmlns:a16="http://schemas.microsoft.com/office/drawing/2014/main" id="{F9C926F9-4130-3DFE-1F70-B430E617F393}"/>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algn="ct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88DAA2CD-B39B-7B37-6854-A89EB74F2C74}"/>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145EC9B9-A5F9-7B47-91D7-86747E47CC2C}"/>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12" name="文本框 11">
            <a:extLst>
              <a:ext uri="{FF2B5EF4-FFF2-40B4-BE49-F238E27FC236}">
                <a16:creationId xmlns:a16="http://schemas.microsoft.com/office/drawing/2014/main" id="{A6D5D5D9-91CD-2992-788A-64A662E525B0}"/>
              </a:ext>
            </a:extLst>
          </p:cNvPr>
          <p:cNvSpPr txBox="1"/>
          <p:nvPr/>
        </p:nvSpPr>
        <p:spPr>
          <a:xfrm>
            <a:off x="7344697" y="1404047"/>
            <a:ext cx="2754999" cy="2967375"/>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13" name="文本框 12">
            <a:extLst>
              <a:ext uri="{FF2B5EF4-FFF2-40B4-BE49-F238E27FC236}">
                <a16:creationId xmlns:a16="http://schemas.microsoft.com/office/drawing/2014/main" id="{CC0F619E-630E-2A25-0D4E-065977392C8E}"/>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3" name="文本框 2">
            <a:extLst>
              <a:ext uri="{FF2B5EF4-FFF2-40B4-BE49-F238E27FC236}">
                <a16:creationId xmlns:a16="http://schemas.microsoft.com/office/drawing/2014/main" id="{CCDC36AB-4A29-BBD5-B723-F914C338B0A2}"/>
              </a:ext>
            </a:extLst>
          </p:cNvPr>
          <p:cNvSpPr txBox="1"/>
          <p:nvPr/>
        </p:nvSpPr>
        <p:spPr>
          <a:xfrm>
            <a:off x="752537" y="1562011"/>
            <a:ext cx="3542943" cy="3648727"/>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EC105B1B-A3EC-FD3E-8E4A-7CB956BCA324}"/>
              </a:ext>
            </a:extLst>
          </p:cNvPr>
          <p:cNvPicPr>
            <a:picLocks noChangeAspect="1"/>
          </p:cNvPicPr>
          <p:nvPr/>
        </p:nvPicPr>
        <p:blipFill>
          <a:blip r:embed="rId3"/>
          <a:stretch>
            <a:fillRect/>
          </a:stretch>
        </p:blipFill>
        <p:spPr>
          <a:xfrm>
            <a:off x="190942" y="1091373"/>
            <a:ext cx="3817712" cy="4675254"/>
          </a:xfrm>
          <a:prstGeom prst="rect">
            <a:avLst/>
          </a:prstGeom>
        </p:spPr>
      </p:pic>
      <p:sp>
        <p:nvSpPr>
          <p:cNvPr id="14" name="文本框 13">
            <a:extLst>
              <a:ext uri="{FF2B5EF4-FFF2-40B4-BE49-F238E27FC236}">
                <a16:creationId xmlns:a16="http://schemas.microsoft.com/office/drawing/2014/main" id="{D7C20343-581B-0BAE-1F5A-169A8887D3D4}"/>
              </a:ext>
            </a:extLst>
          </p:cNvPr>
          <p:cNvSpPr txBox="1"/>
          <p:nvPr/>
        </p:nvSpPr>
        <p:spPr>
          <a:xfrm>
            <a:off x="682180" y="5879286"/>
            <a:ext cx="2976413" cy="326679"/>
          </a:xfrm>
          <a:prstGeom prst="rect">
            <a:avLst/>
          </a:prstGeom>
          <a:noFill/>
        </p:spPr>
        <p:txBody>
          <a:bodyPr wrap="square" lIns="90000" tIns="46800" rIns="90000" bIns="46800" rtlCol="0" anchor="ctr" anchorCtr="0">
            <a:noAutofit/>
          </a:bodyPr>
          <a:lstStyle/>
          <a:p>
            <a:pPr algn="ctr"/>
            <a:r>
              <a:rPr lang="en-US" altLang="zh-CN" sz="1600" dirty="0">
                <a:latin typeface="华文中宋" panose="02010600040101010101" pitchFamily="2" charset="-122"/>
                <a:ea typeface="华文中宋" panose="02010600040101010101" pitchFamily="2" charset="-122"/>
              </a:rPr>
              <a:t>MiM</a:t>
            </a:r>
            <a:r>
              <a:rPr lang="zh-CN" altLang="en-US" sz="1600" dirty="0">
                <a:latin typeface="华文中宋" panose="02010600040101010101" pitchFamily="2" charset="-122"/>
                <a:ea typeface="华文中宋" panose="02010600040101010101" pitchFamily="2" charset="-122"/>
              </a:rPr>
              <a:t>正常工作</a:t>
            </a: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处理评测集时</a:t>
            </a:r>
          </a:p>
        </p:txBody>
      </p:sp>
      <p:pic>
        <p:nvPicPr>
          <p:cNvPr id="16" name="图片 15">
            <a:extLst>
              <a:ext uri="{FF2B5EF4-FFF2-40B4-BE49-F238E27FC236}">
                <a16:creationId xmlns:a16="http://schemas.microsoft.com/office/drawing/2014/main" id="{841A843D-2295-CBE6-B1EA-B873DD7E15E5}"/>
              </a:ext>
            </a:extLst>
          </p:cNvPr>
          <p:cNvPicPr>
            <a:picLocks noChangeAspect="1"/>
          </p:cNvPicPr>
          <p:nvPr/>
        </p:nvPicPr>
        <p:blipFill>
          <a:blip r:embed="rId4"/>
          <a:stretch>
            <a:fillRect/>
          </a:stretch>
        </p:blipFill>
        <p:spPr>
          <a:xfrm>
            <a:off x="4351143" y="1192992"/>
            <a:ext cx="3707441" cy="4651031"/>
          </a:xfrm>
          <a:prstGeom prst="rect">
            <a:avLst/>
          </a:prstGeom>
        </p:spPr>
      </p:pic>
      <p:sp>
        <p:nvSpPr>
          <p:cNvPr id="17" name="文本框 16">
            <a:extLst>
              <a:ext uri="{FF2B5EF4-FFF2-40B4-BE49-F238E27FC236}">
                <a16:creationId xmlns:a16="http://schemas.microsoft.com/office/drawing/2014/main" id="{F8A65422-F2FD-D6B9-1F01-78B3D6317EAB}"/>
              </a:ext>
            </a:extLst>
          </p:cNvPr>
          <p:cNvSpPr txBox="1"/>
          <p:nvPr/>
        </p:nvSpPr>
        <p:spPr>
          <a:xfrm>
            <a:off x="5067546" y="5961980"/>
            <a:ext cx="2277151" cy="243985"/>
          </a:xfrm>
          <a:prstGeom prst="rect">
            <a:avLst/>
          </a:prstGeom>
          <a:noFill/>
        </p:spPr>
        <p:txBody>
          <a:bodyPr wrap="square" lIns="90000" tIns="46800" rIns="90000" bIns="46800" rtlCol="0" anchor="ctr" anchorCtr="0">
            <a:noAutofit/>
          </a:bodyPr>
          <a:lstStyle/>
          <a:p>
            <a:pPr algn="ctr"/>
            <a:r>
              <a:rPr lang="en-US" altLang="zh-CN" sz="1600" dirty="0">
                <a:latin typeface="华文中宋" panose="02010600040101010101" pitchFamily="2" charset="-122"/>
                <a:ea typeface="华文中宋" panose="02010600040101010101" pitchFamily="2" charset="-122"/>
              </a:rPr>
              <a:t>MiM</a:t>
            </a:r>
            <a:r>
              <a:rPr lang="zh-CN" altLang="en-US" sz="1600" dirty="0">
                <a:latin typeface="华文中宋" panose="02010600040101010101" pitchFamily="2" charset="-122"/>
                <a:ea typeface="华文中宋" panose="02010600040101010101" pitchFamily="2" charset="-122"/>
              </a:rPr>
              <a:t>的错误处理过程</a:t>
            </a:r>
          </a:p>
        </p:txBody>
      </p:sp>
      <p:sp>
        <p:nvSpPr>
          <p:cNvPr id="18" name="文本框 17">
            <a:extLst>
              <a:ext uri="{FF2B5EF4-FFF2-40B4-BE49-F238E27FC236}">
                <a16:creationId xmlns:a16="http://schemas.microsoft.com/office/drawing/2014/main" id="{99630849-6006-9620-148E-1FE2BC76F1A7}"/>
              </a:ext>
            </a:extLst>
          </p:cNvPr>
          <p:cNvSpPr txBox="1"/>
          <p:nvPr/>
        </p:nvSpPr>
        <p:spPr>
          <a:xfrm>
            <a:off x="8114247" y="1530711"/>
            <a:ext cx="3932237" cy="3180847"/>
          </a:xfrm>
          <a:prstGeom prst="rect">
            <a:avLst/>
          </a:prstGeom>
          <a:noFill/>
        </p:spPr>
        <p:txBody>
          <a:bodyPr wrap="square" lIns="90000" tIns="46800" rIns="90000" bIns="46800" rtlCol="0" anchor="ctr" anchorCtr="0">
            <a:normAutofit fontScale="85000" lnSpcReduction="20000"/>
          </a:bodyPr>
          <a:lstStyle/>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判断错误是否属于记忆系统；</a:t>
            </a:r>
          </a:p>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定位错误发生在构建还是访问阶段；</a:t>
            </a:r>
          </a:p>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从失败证据中产生修复策略；</a:t>
            </a:r>
          </a:p>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将修复策略抽象成 Skill；</a:t>
            </a:r>
          </a:p>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验证 Skill 是否有效且可自然调用；</a:t>
            </a:r>
          </a:p>
          <a:p>
            <a:pPr marL="285750" indent="-285750">
              <a:lnSpc>
                <a:spcPct val="150000"/>
              </a:lnSpc>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rPr>
              <a:t>管理 Skill 的版本、合并、冻结和回归</a:t>
            </a:r>
            <a:endParaRPr lang="en-US" altLang="zh-CN"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我们把</a:t>
            </a:r>
            <a:r>
              <a:rPr lang="en-US" altLang="zh-CN" dirty="0">
                <a:latin typeface="华文中宋" panose="02010600040101010101" pitchFamily="2" charset="-122"/>
                <a:ea typeface="华文中宋" panose="02010600040101010101" pitchFamily="2" charset="-122"/>
              </a:rPr>
              <a:t>skill</a:t>
            </a:r>
            <a:r>
              <a:rPr lang="zh-CN" altLang="en-US" dirty="0">
                <a:latin typeface="华文中宋" panose="02010600040101010101" pitchFamily="2" charset="-122"/>
                <a:ea typeface="华文中宋" panose="02010600040101010101" pitchFamily="2" charset="-122"/>
              </a:rPr>
              <a:t>的生成统一为一个</a:t>
            </a:r>
            <a:r>
              <a:rPr lang="en-US" altLang="zh-CN" dirty="0">
                <a:latin typeface="华文中宋" panose="02010600040101010101" pitchFamily="2" charset="-122"/>
                <a:ea typeface="华文中宋" panose="02010600040101010101" pitchFamily="2" charset="-122"/>
              </a:rPr>
              <a:t>AGENT</a:t>
            </a:r>
          </a:p>
          <a:p>
            <a:pPr marL="285750" indent="-285750">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Failure Attributor </a:t>
            </a:r>
            <a:r>
              <a:rPr lang="zh-CN" altLang="en-US" dirty="0">
                <a:latin typeface="华文中宋" panose="02010600040101010101" pitchFamily="2" charset="-122"/>
                <a:ea typeface="华文中宋" panose="02010600040101010101" pitchFamily="2" charset="-122"/>
              </a:rPr>
              <a:t>和 </a:t>
            </a:r>
            <a:r>
              <a:rPr lang="en-US" altLang="zh-CN" dirty="0">
                <a:latin typeface="华文中宋" panose="02010600040101010101" pitchFamily="2" charset="-122"/>
                <a:ea typeface="华文中宋" panose="02010600040101010101" pitchFamily="2" charset="-122"/>
              </a:rPr>
              <a:t>Meta-Agent</a:t>
            </a:r>
            <a:r>
              <a:rPr lang="zh-CN" altLang="en-US">
                <a:latin typeface="华文中宋" panose="02010600040101010101" pitchFamily="2" charset="-122"/>
                <a:ea typeface="华文中宋" panose="02010600040101010101" pitchFamily="2" charset="-122"/>
              </a:rPr>
              <a:t>的初始提示词需要足够完备以至于他们可以理解此记忆系统</a:t>
            </a:r>
            <a:endParaRPr lang="zh-CN" altLang="zh-CN" dirty="0">
              <a:latin typeface="华文中宋" panose="02010600040101010101" pitchFamily="2" charset="-122"/>
              <a:ea typeface="华文中宋" panose="02010600040101010101" pitchFamily="2" charset="-122"/>
            </a:endParaRPr>
          </a:p>
          <a:p>
            <a:pPr algn="ctr"/>
            <a:endParaRPr lang="zh-CN" altLang="en-US" dirty="0"/>
          </a:p>
        </p:txBody>
      </p:sp>
    </p:spTree>
    <p:extLst>
      <p:ext uri="{BB962C8B-B14F-4D97-AF65-F5344CB8AC3E}">
        <p14:creationId xmlns:p14="http://schemas.microsoft.com/office/powerpoint/2010/main" val="145497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A829-35BB-7ADE-BFB0-DA5BF3C7867A}"/>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05DEE8F8-5D9A-19B4-323D-23B4E004EF0D}"/>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A3512DF9-D864-82F8-99C1-D681D5CB932A}"/>
              </a:ext>
            </a:extLst>
          </p:cNvPr>
          <p:cNvSpPr>
            <a:spLocks noGrp="1"/>
          </p:cNvSpPr>
          <p:nvPr>
            <p:ph type="title"/>
          </p:nvPr>
        </p:nvSpPr>
        <p:spPr>
          <a:xfrm>
            <a:off x="1341437" y="249463"/>
            <a:ext cx="10850563" cy="663575"/>
          </a:xfrm>
        </p:spPr>
        <p:txBody>
          <a:bodyPr/>
          <a:lstStyle/>
          <a:p>
            <a:r>
              <a:rPr lang="en-US" altLang="zh-CN" sz="2800" dirty="0"/>
              <a:t>Memory Failure Attributor</a:t>
            </a:r>
            <a:endParaRPr lang="zh-CN" altLang="en-US" sz="2800" dirty="0"/>
          </a:p>
        </p:txBody>
      </p:sp>
      <p:sp>
        <p:nvSpPr>
          <p:cNvPr id="65" name="矩形 64">
            <a:extLst>
              <a:ext uri="{FF2B5EF4-FFF2-40B4-BE49-F238E27FC236}">
                <a16:creationId xmlns:a16="http://schemas.microsoft.com/office/drawing/2014/main" id="{37A1E122-4C1C-A876-A881-FA03E59CB44E}"/>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B9FB3EA7-A9B5-C19B-E841-399A3470DB57}"/>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23701C90-8F52-6E59-E125-DDBEC154FFFC}"/>
              </a:ext>
            </a:extLst>
          </p:cNvPr>
          <p:cNvSpPr txBox="1"/>
          <p:nvPr/>
        </p:nvSpPr>
        <p:spPr>
          <a:xfrm>
            <a:off x="448351" y="1530711"/>
            <a:ext cx="3598606" cy="2424635"/>
          </a:xfrm>
          <a:prstGeom prst="rect">
            <a:avLst/>
          </a:prstGeom>
          <a:noFill/>
        </p:spPr>
        <p:txBody>
          <a:bodyPr wrap="square" lIns="90000" tIns="46800" rIns="90000" bIns="46800" rtlCol="0" anchor="ctr" anchorCtr="0">
            <a:normAutofit/>
          </a:bodyPr>
          <a:lstStyle/>
          <a:p>
            <a:endParaRPr lang="zh-CN" altLang="zh-CN" dirty="0">
              <a:latin typeface="华文中宋" panose="02010600040101010101" pitchFamily="2" charset="-122"/>
              <a:ea typeface="华文中宋" panose="02010600040101010101" pitchFamily="2" charset="-122"/>
            </a:endParaRPr>
          </a:p>
        </p:txBody>
      </p:sp>
      <p:sp>
        <p:nvSpPr>
          <p:cNvPr id="9" name="文本框 8">
            <a:extLst>
              <a:ext uri="{FF2B5EF4-FFF2-40B4-BE49-F238E27FC236}">
                <a16:creationId xmlns:a16="http://schemas.microsoft.com/office/drawing/2014/main" id="{9D083C0F-E3EE-3302-1AE2-1264EB38F059}"/>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algn="ct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FD65CE26-3367-F32B-84CC-96C96D772D43}"/>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E9731DB8-0BDF-6B70-A9AA-D09E4D845BEA}"/>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algn="ctr"/>
            <a:endParaRPr lang="zh-CN" altLang="en-US" sz="2400" b="1" dirty="0">
              <a:latin typeface="华文中宋" panose="02010600040101010101" pitchFamily="2" charset="-122"/>
              <a:ea typeface="华文中宋" panose="02010600040101010101" pitchFamily="2" charset="-122"/>
            </a:endParaRPr>
          </a:p>
        </p:txBody>
      </p:sp>
      <p:sp>
        <p:nvSpPr>
          <p:cNvPr id="12" name="文本框 11">
            <a:extLst>
              <a:ext uri="{FF2B5EF4-FFF2-40B4-BE49-F238E27FC236}">
                <a16:creationId xmlns:a16="http://schemas.microsoft.com/office/drawing/2014/main" id="{4D5DE6EC-8026-29F7-8199-614515BCA581}"/>
              </a:ext>
            </a:extLst>
          </p:cNvPr>
          <p:cNvSpPr txBox="1"/>
          <p:nvPr/>
        </p:nvSpPr>
        <p:spPr>
          <a:xfrm>
            <a:off x="7344697" y="1404047"/>
            <a:ext cx="2754999" cy="2967375"/>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13" name="文本框 12">
            <a:extLst>
              <a:ext uri="{FF2B5EF4-FFF2-40B4-BE49-F238E27FC236}">
                <a16:creationId xmlns:a16="http://schemas.microsoft.com/office/drawing/2014/main" id="{E2D15270-0762-0728-8F32-C9D3F66ED13A}"/>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5BFF8CF7-5ED5-FD42-8CD6-FF1ED5D3CD62}"/>
              </a:ext>
            </a:extLst>
          </p:cNvPr>
          <p:cNvSpPr txBox="1"/>
          <p:nvPr/>
        </p:nvSpPr>
        <p:spPr>
          <a:xfrm>
            <a:off x="682180" y="5879286"/>
            <a:ext cx="2976413" cy="326679"/>
          </a:xfrm>
          <a:prstGeom prst="rect">
            <a:avLst/>
          </a:prstGeom>
          <a:noFill/>
        </p:spPr>
        <p:txBody>
          <a:bodyPr wrap="square" lIns="90000" tIns="46800" rIns="90000" bIns="46800" rtlCol="0" anchor="ctr" anchorCtr="0">
            <a:noAutofit/>
          </a:bodyPr>
          <a:lstStyle/>
          <a:p>
            <a:pPr algn="ctr"/>
            <a:endParaRPr lang="zh-CN" altLang="en-US" sz="1600" dirty="0">
              <a:latin typeface="华文中宋" panose="02010600040101010101" pitchFamily="2" charset="-122"/>
              <a:ea typeface="华文中宋" panose="02010600040101010101" pitchFamily="2" charset="-122"/>
            </a:endParaRPr>
          </a:p>
        </p:txBody>
      </p:sp>
      <p:sp>
        <p:nvSpPr>
          <p:cNvPr id="17" name="文本框 16">
            <a:extLst>
              <a:ext uri="{FF2B5EF4-FFF2-40B4-BE49-F238E27FC236}">
                <a16:creationId xmlns:a16="http://schemas.microsoft.com/office/drawing/2014/main" id="{302F273B-79E9-D4B2-CDC4-B748669BD554}"/>
              </a:ext>
            </a:extLst>
          </p:cNvPr>
          <p:cNvSpPr txBox="1"/>
          <p:nvPr/>
        </p:nvSpPr>
        <p:spPr>
          <a:xfrm>
            <a:off x="5067546" y="5961980"/>
            <a:ext cx="2277151" cy="243985"/>
          </a:xfrm>
          <a:prstGeom prst="rect">
            <a:avLst/>
          </a:prstGeom>
          <a:noFill/>
        </p:spPr>
        <p:txBody>
          <a:bodyPr wrap="square" lIns="90000" tIns="46800" rIns="90000" bIns="46800" rtlCol="0" anchor="ctr" anchorCtr="0">
            <a:noAutofit/>
          </a:bodyPr>
          <a:lstStyle/>
          <a:p>
            <a:pPr algn="ctr"/>
            <a:endParaRPr lang="zh-CN" altLang="en-US" sz="1600" dirty="0">
              <a:latin typeface="华文中宋" panose="02010600040101010101" pitchFamily="2" charset="-122"/>
              <a:ea typeface="华文中宋" panose="02010600040101010101" pitchFamily="2" charset="-122"/>
            </a:endParaRPr>
          </a:p>
        </p:txBody>
      </p:sp>
      <p:sp>
        <p:nvSpPr>
          <p:cNvPr id="18" name="文本框 17">
            <a:extLst>
              <a:ext uri="{FF2B5EF4-FFF2-40B4-BE49-F238E27FC236}">
                <a16:creationId xmlns:a16="http://schemas.microsoft.com/office/drawing/2014/main" id="{951187C5-AEC8-F628-2C5E-11D6C1503C82}"/>
              </a:ext>
            </a:extLst>
          </p:cNvPr>
          <p:cNvSpPr txBox="1"/>
          <p:nvPr/>
        </p:nvSpPr>
        <p:spPr>
          <a:xfrm>
            <a:off x="8114247" y="1530711"/>
            <a:ext cx="3932237" cy="3180847"/>
          </a:xfrm>
          <a:prstGeom prst="rect">
            <a:avLst/>
          </a:prstGeom>
          <a:noFill/>
        </p:spPr>
        <p:txBody>
          <a:bodyPr wrap="square" lIns="90000" tIns="46800" rIns="90000" bIns="46800" rtlCol="0" anchor="ctr" anchorCtr="0">
            <a:normAutofit/>
          </a:bodyPr>
          <a:lstStyle/>
          <a:p>
            <a:pPr algn="ctr"/>
            <a:endParaRPr lang="zh-CN" altLang="en-US" dirty="0"/>
          </a:p>
        </p:txBody>
      </p:sp>
      <p:sp>
        <p:nvSpPr>
          <p:cNvPr id="4" name="文本框 3">
            <a:extLst>
              <a:ext uri="{FF2B5EF4-FFF2-40B4-BE49-F238E27FC236}">
                <a16:creationId xmlns:a16="http://schemas.microsoft.com/office/drawing/2014/main" id="{708EA961-5898-7EC6-A882-1656096D8673}"/>
              </a:ext>
            </a:extLst>
          </p:cNvPr>
          <p:cNvSpPr txBox="1"/>
          <p:nvPr/>
        </p:nvSpPr>
        <p:spPr>
          <a:xfrm>
            <a:off x="563385" y="1235589"/>
            <a:ext cx="4023742" cy="2751058"/>
          </a:xfrm>
          <a:prstGeom prst="rect">
            <a:avLst/>
          </a:prstGeom>
          <a:noFill/>
        </p:spPr>
        <p:txBody>
          <a:bodyPr wrap="square" lIns="90000" tIns="46800" rIns="90000" bIns="46800" rtlCol="0" anchor="ctr" anchorCtr="0">
            <a:normAutofit fontScale="40000" lnSpcReduction="20000"/>
          </a:bodyPr>
          <a:lstStyle/>
          <a:p>
            <a:pPr>
              <a:lnSpc>
                <a:spcPct val="170000"/>
              </a:lnSpc>
            </a:pPr>
            <a:r>
              <a:rPr lang="en-US" altLang="zh-CN" sz="4500" dirty="0">
                <a:latin typeface="华文中宋" panose="02010600040101010101" pitchFamily="2" charset="-122"/>
                <a:ea typeface="华文中宋" panose="02010600040101010101" pitchFamily="2" charset="-122"/>
              </a:rPr>
              <a:t>1.</a:t>
            </a:r>
            <a:r>
              <a:rPr lang="zh-CN" altLang="en-US" sz="4500" dirty="0">
                <a:latin typeface="华文中宋" panose="02010600040101010101" pitchFamily="2" charset="-122"/>
                <a:ea typeface="华文中宋" panose="02010600040101010101" pitchFamily="2" charset="-122"/>
              </a:rPr>
              <a:t>错误归因：</a:t>
            </a:r>
            <a:endParaRPr lang="en-US" altLang="zh-CN" sz="4500" dirty="0">
              <a:latin typeface="华文中宋" panose="02010600040101010101" pitchFamily="2" charset="-122"/>
              <a:ea typeface="华文中宋" panose="02010600040101010101" pitchFamily="2" charset="-122"/>
            </a:endParaRPr>
          </a:p>
          <a:p>
            <a:pPr marL="285750" indent="-285750">
              <a:lnSpc>
                <a:spcPct val="170000"/>
              </a:lnSpc>
              <a:buFont typeface="Arial" panose="020B0604020202020204" pitchFamily="34" charset="0"/>
              <a:buChar char="•"/>
            </a:pPr>
            <a:r>
              <a:rPr lang="zh-CN" altLang="en-US" sz="4500" dirty="0">
                <a:latin typeface="华文中宋" panose="02010600040101010101" pitchFamily="2" charset="-122"/>
                <a:ea typeface="华文中宋" panose="02010600040101010101" pitchFamily="2" charset="-122"/>
              </a:rPr>
              <a:t>记忆构建错误</a:t>
            </a:r>
            <a:endParaRPr lang="en-US" altLang="zh-CN" sz="4500" dirty="0">
              <a:latin typeface="华文中宋" panose="02010600040101010101" pitchFamily="2" charset="-122"/>
              <a:ea typeface="华文中宋" panose="02010600040101010101" pitchFamily="2" charset="-122"/>
            </a:endParaRPr>
          </a:p>
          <a:p>
            <a:pPr marL="285750" indent="-285750">
              <a:lnSpc>
                <a:spcPct val="170000"/>
              </a:lnSpc>
              <a:buFont typeface="Arial" panose="020B0604020202020204" pitchFamily="34" charset="0"/>
              <a:buChar char="•"/>
            </a:pPr>
            <a:r>
              <a:rPr lang="zh-CN" altLang="en-US" sz="4500" dirty="0">
                <a:latin typeface="华文中宋" panose="02010600040101010101" pitchFamily="2" charset="-122"/>
                <a:ea typeface="华文中宋" panose="02010600040101010101" pitchFamily="2" charset="-122"/>
              </a:rPr>
              <a:t>记忆读取错误</a:t>
            </a:r>
            <a:endParaRPr lang="en-US" altLang="zh-CN" sz="4500" dirty="0">
              <a:latin typeface="华文中宋" panose="02010600040101010101" pitchFamily="2" charset="-122"/>
              <a:ea typeface="华文中宋" panose="02010600040101010101" pitchFamily="2" charset="-122"/>
            </a:endParaRPr>
          </a:p>
          <a:p>
            <a:pPr marL="285750" indent="-285750">
              <a:lnSpc>
                <a:spcPct val="170000"/>
              </a:lnSpc>
              <a:buFont typeface="Arial" panose="020B0604020202020204" pitchFamily="34" charset="0"/>
              <a:buChar char="•"/>
            </a:pPr>
            <a:r>
              <a:rPr lang="zh-CN" altLang="en-US" sz="4500" dirty="0">
                <a:latin typeface="华文中宋" panose="02010600040101010101" pitchFamily="2" charset="-122"/>
                <a:ea typeface="华文中宋" panose="02010600040101010101" pitchFamily="2" charset="-122"/>
              </a:rPr>
              <a:t>信息充足情况下的回答错误</a:t>
            </a:r>
            <a:endParaRPr lang="en-US" altLang="zh-CN" sz="4500" dirty="0">
              <a:latin typeface="华文中宋" panose="02010600040101010101" pitchFamily="2" charset="-122"/>
              <a:ea typeface="华文中宋" panose="02010600040101010101" pitchFamily="2" charset="-122"/>
            </a:endParaRPr>
          </a:p>
          <a:p>
            <a:pPr>
              <a:lnSpc>
                <a:spcPct val="170000"/>
              </a:lnSpc>
            </a:pPr>
            <a:endParaRPr lang="en-US" altLang="zh-CN" sz="4500" dirty="0">
              <a:latin typeface="华文中宋" panose="02010600040101010101" pitchFamily="2" charset="-122"/>
              <a:ea typeface="华文中宋" panose="02010600040101010101" pitchFamily="2" charset="-122"/>
            </a:endParaRPr>
          </a:p>
          <a:p>
            <a:pPr>
              <a:lnSpc>
                <a:spcPct val="170000"/>
              </a:lnSpc>
            </a:pPr>
            <a:r>
              <a:rPr lang="en-US" altLang="zh-CN" sz="4500" dirty="0">
                <a:latin typeface="华文中宋" panose="02010600040101010101" pitchFamily="2" charset="-122"/>
                <a:ea typeface="华文中宋" panose="02010600040101010101" pitchFamily="2" charset="-122"/>
              </a:rPr>
              <a:t>MiM</a:t>
            </a:r>
            <a:r>
              <a:rPr lang="zh-CN" altLang="en-US" sz="4500" dirty="0">
                <a:latin typeface="华文中宋" panose="02010600040101010101" pitchFamily="2" charset="-122"/>
                <a:ea typeface="华文中宋" panose="02010600040101010101" pitchFamily="2" charset="-122"/>
              </a:rPr>
              <a:t>只讨论前两种错误</a:t>
            </a:r>
            <a:endParaRPr lang="en-US" altLang="zh-CN" sz="4500"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zh-CN" altLang="en-US" dirty="0">
              <a:latin typeface="华文中宋" panose="02010600040101010101" pitchFamily="2" charset="-122"/>
              <a:ea typeface="华文中宋" panose="02010600040101010101" pitchFamily="2" charset="-122"/>
            </a:endParaRPr>
          </a:p>
        </p:txBody>
      </p:sp>
      <p:sp>
        <p:nvSpPr>
          <p:cNvPr id="5" name="文本框 4">
            <a:extLst>
              <a:ext uri="{FF2B5EF4-FFF2-40B4-BE49-F238E27FC236}">
                <a16:creationId xmlns:a16="http://schemas.microsoft.com/office/drawing/2014/main" id="{FCCE55CA-0BFB-86EC-38DC-A0AFC08CFEC1}"/>
              </a:ext>
            </a:extLst>
          </p:cNvPr>
          <p:cNvSpPr txBox="1"/>
          <p:nvPr/>
        </p:nvSpPr>
        <p:spPr>
          <a:xfrm>
            <a:off x="5810863" y="1169011"/>
            <a:ext cx="5932786" cy="4923451"/>
          </a:xfrm>
          <a:prstGeom prst="rect">
            <a:avLst/>
          </a:prstGeom>
          <a:noFill/>
        </p:spPr>
        <p:txBody>
          <a:bodyPr wrap="square" lIns="90000" tIns="46800" rIns="90000" bIns="46800" rtlCol="0" anchor="ctr" anchorCtr="0">
            <a:normAutofit/>
          </a:bodyPr>
          <a:lstStyle/>
          <a:p>
            <a:pPr>
              <a:lnSpc>
                <a:spcPct val="150000"/>
              </a:lnSpc>
            </a:pP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编写错误轨迹：</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Attribute</a:t>
            </a:r>
            <a:r>
              <a:rPr lang="zh-CN" altLang="en-US" dirty="0">
                <a:latin typeface="华文中宋" panose="02010600040101010101" pitchFamily="2" charset="-122"/>
                <a:ea typeface="华文中宋" panose="02010600040101010101" pitchFamily="2" charset="-122"/>
              </a:rPr>
              <a:t>是一个强</a:t>
            </a:r>
            <a:r>
              <a:rPr lang="en-US" altLang="zh-CN" dirty="0">
                <a:latin typeface="华文中宋" panose="02010600040101010101" pitchFamily="2" charset="-122"/>
                <a:ea typeface="华文中宋" panose="02010600040101010101" pitchFamily="2" charset="-122"/>
              </a:rPr>
              <a:t>LLM</a:t>
            </a:r>
            <a:r>
              <a:rPr lang="zh-CN" altLang="en-US" dirty="0">
                <a:latin typeface="华文中宋" panose="02010600040101010101" pitchFamily="2" charset="-122"/>
                <a:ea typeface="华文中宋" panose="02010600040101010101" pitchFamily="2" charset="-122"/>
              </a:rPr>
              <a:t>为核心的智能体，有访问所有原始对话和构建记忆的权限。错误轨迹会包含以下的信息：</a:t>
            </a:r>
            <a:endParaRPr lang="en-US" altLang="zh-CN"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该步骤调用的</a:t>
            </a:r>
            <a:r>
              <a:rPr lang="en-US" altLang="zh-CN" dirty="0">
                <a:latin typeface="华文中宋" panose="02010600040101010101" pitchFamily="2" charset="-122"/>
                <a:ea typeface="华文中宋" panose="02010600040101010101" pitchFamily="2" charset="-122"/>
              </a:rPr>
              <a:t>skill</a:t>
            </a: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问题，模型答案，正确答案</a:t>
            </a:r>
            <a:endParaRPr lang="en-US" altLang="zh-CN"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有答案的</a:t>
            </a:r>
            <a:r>
              <a:rPr lang="en-US" altLang="zh-CN" dirty="0">
                <a:latin typeface="华文中宋" panose="02010600040101010101" pitchFamily="2" charset="-122"/>
                <a:ea typeface="华文中宋" panose="02010600040101010101" pitchFamily="2" charset="-122"/>
              </a:rPr>
              <a:t>raw conversation</a:t>
            </a:r>
            <a:r>
              <a:rPr lang="zh-CN" altLang="en-US" dirty="0">
                <a:latin typeface="华文中宋" panose="02010600040101010101" pitchFamily="2" charset="-122"/>
                <a:ea typeface="华文中宋" panose="02010600040101010101" pitchFamily="2" charset="-122"/>
              </a:rPr>
              <a:t>原文</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特别的，对于不同种类，信息也会有不同</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）记忆构建错误：</a:t>
            </a:r>
            <a:endParaRPr lang="en-US" altLang="zh-CN"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构建记忆出错前后的记忆（不作为提示词直接注入）</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）记忆读取错误</a:t>
            </a:r>
            <a:r>
              <a:rPr lang="en-US" altLang="zh-CN" dirty="0">
                <a:latin typeface="华文中宋" panose="02010600040101010101" pitchFamily="2" charset="-122"/>
                <a:ea typeface="华文中宋" panose="02010600040101010101" pitchFamily="2" charset="-122"/>
              </a:rPr>
              <a:t>:</a:t>
            </a:r>
          </a:p>
          <a:p>
            <a:pPr marL="285750"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检索记忆的关键词，深度等参数</a:t>
            </a:r>
            <a:endParaRPr lang="en-US" altLang="zh-CN"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476163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DC813-DBB7-656F-099A-E3406815D5F0}"/>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0928FB52-AA24-EAB3-4F80-5F387D6D937F}"/>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C805968E-B2FA-8B50-814B-E917F3349CEE}"/>
              </a:ext>
            </a:extLst>
          </p:cNvPr>
          <p:cNvSpPr>
            <a:spLocks noGrp="1"/>
          </p:cNvSpPr>
          <p:nvPr>
            <p:ph type="title"/>
          </p:nvPr>
        </p:nvSpPr>
        <p:spPr>
          <a:xfrm>
            <a:off x="1341437" y="249463"/>
            <a:ext cx="10850563" cy="663575"/>
          </a:xfrm>
        </p:spPr>
        <p:txBody>
          <a:bodyPr/>
          <a:lstStyle/>
          <a:p>
            <a:r>
              <a:rPr lang="en-US" altLang="zh-CN" sz="2800" dirty="0"/>
              <a:t>Skill-learner</a:t>
            </a:r>
            <a:r>
              <a:rPr lang="zh-CN" altLang="en-US" sz="2800" dirty="0"/>
              <a:t>进行</a:t>
            </a:r>
            <a:r>
              <a:rPr lang="en-US" altLang="zh-CN" sz="2800" dirty="0"/>
              <a:t>Skill</a:t>
            </a:r>
            <a:r>
              <a:rPr lang="zh-CN" altLang="en-US" sz="2800" dirty="0"/>
              <a:t>构建或者改写</a:t>
            </a:r>
          </a:p>
        </p:txBody>
      </p:sp>
      <p:sp>
        <p:nvSpPr>
          <p:cNvPr id="65" name="矩形 64">
            <a:extLst>
              <a:ext uri="{FF2B5EF4-FFF2-40B4-BE49-F238E27FC236}">
                <a16:creationId xmlns:a16="http://schemas.microsoft.com/office/drawing/2014/main" id="{A9B3CFF4-14E0-C0BB-009A-4E41BAADF1C4}"/>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5D605800-48F4-E8F9-3570-D7096FB0F66B}"/>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8" name="文本框 7">
            <a:extLst>
              <a:ext uri="{FF2B5EF4-FFF2-40B4-BE49-F238E27FC236}">
                <a16:creationId xmlns:a16="http://schemas.microsoft.com/office/drawing/2014/main" id="{8C78B38F-3B9B-88EA-D92C-EC360E8B8083}"/>
              </a:ext>
            </a:extLst>
          </p:cNvPr>
          <p:cNvSpPr txBox="1"/>
          <p:nvPr/>
        </p:nvSpPr>
        <p:spPr>
          <a:xfrm>
            <a:off x="448351" y="1530711"/>
            <a:ext cx="3598606" cy="2424635"/>
          </a:xfrm>
          <a:prstGeom prst="rect">
            <a:avLst/>
          </a:prstGeom>
          <a:noFill/>
        </p:spPr>
        <p:txBody>
          <a:bodyPr wrap="square" lIns="90000" tIns="46800" rIns="90000" bIns="46800" rtlCol="0" anchor="ctr"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9" name="文本框 8">
            <a:extLst>
              <a:ext uri="{FF2B5EF4-FFF2-40B4-BE49-F238E27FC236}">
                <a16:creationId xmlns:a16="http://schemas.microsoft.com/office/drawing/2014/main" id="{9E19FDCF-7272-1005-8F52-98152BD64D95}"/>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sp>
        <p:nvSpPr>
          <p:cNvPr id="10" name="文本框 9">
            <a:extLst>
              <a:ext uri="{FF2B5EF4-FFF2-40B4-BE49-F238E27FC236}">
                <a16:creationId xmlns:a16="http://schemas.microsoft.com/office/drawing/2014/main" id="{ABEE704D-3C00-AB72-91F5-4E195E16E299}"/>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1" name="文本框 10">
            <a:extLst>
              <a:ext uri="{FF2B5EF4-FFF2-40B4-BE49-F238E27FC236}">
                <a16:creationId xmlns:a16="http://schemas.microsoft.com/office/drawing/2014/main" id="{6BC75027-BF43-B743-5A95-2217AD7F745F}"/>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2" name="文本框 11">
            <a:extLst>
              <a:ext uri="{FF2B5EF4-FFF2-40B4-BE49-F238E27FC236}">
                <a16:creationId xmlns:a16="http://schemas.microsoft.com/office/drawing/2014/main" id="{0B1DF070-7994-F235-5792-CBE00ABFD6F1}"/>
              </a:ext>
            </a:extLst>
          </p:cNvPr>
          <p:cNvSpPr txBox="1"/>
          <p:nvPr/>
        </p:nvSpPr>
        <p:spPr>
          <a:xfrm>
            <a:off x="7344697" y="1404047"/>
            <a:ext cx="2754999" cy="2967375"/>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3" name="文本框 12">
            <a:extLst>
              <a:ext uri="{FF2B5EF4-FFF2-40B4-BE49-F238E27FC236}">
                <a16:creationId xmlns:a16="http://schemas.microsoft.com/office/drawing/2014/main" id="{47A062C2-E9E2-366C-EF9F-21C5CE037061}"/>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3" name="文本框 2">
            <a:extLst>
              <a:ext uri="{FF2B5EF4-FFF2-40B4-BE49-F238E27FC236}">
                <a16:creationId xmlns:a16="http://schemas.microsoft.com/office/drawing/2014/main" id="{09817EAE-0C6E-0524-5CE2-F0153D4A62FF}"/>
              </a:ext>
            </a:extLst>
          </p:cNvPr>
          <p:cNvSpPr txBox="1"/>
          <p:nvPr/>
        </p:nvSpPr>
        <p:spPr>
          <a:xfrm>
            <a:off x="752537" y="1562011"/>
            <a:ext cx="3542943" cy="3648727"/>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4" name="文本框 13">
            <a:extLst>
              <a:ext uri="{FF2B5EF4-FFF2-40B4-BE49-F238E27FC236}">
                <a16:creationId xmlns:a16="http://schemas.microsoft.com/office/drawing/2014/main" id="{6FCB57B1-85CF-8D37-7AB1-2E792E53C5E9}"/>
              </a:ext>
            </a:extLst>
          </p:cNvPr>
          <p:cNvSpPr txBox="1"/>
          <p:nvPr/>
        </p:nvSpPr>
        <p:spPr>
          <a:xfrm>
            <a:off x="682180" y="5879286"/>
            <a:ext cx="2976413" cy="326679"/>
          </a:xfrm>
          <a:prstGeom prst="rect">
            <a:avLst/>
          </a:prstGeom>
          <a:noFill/>
        </p:spPr>
        <p:txBody>
          <a:bodyPr wrap="square" lIns="90000" tIns="46800" rIns="90000" bIns="468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 name="文本框 17">
            <a:extLst>
              <a:ext uri="{FF2B5EF4-FFF2-40B4-BE49-F238E27FC236}">
                <a16:creationId xmlns:a16="http://schemas.microsoft.com/office/drawing/2014/main" id="{1B9CB738-7A21-13B0-4867-A5FF058BB830}"/>
              </a:ext>
            </a:extLst>
          </p:cNvPr>
          <p:cNvSpPr txBox="1"/>
          <p:nvPr/>
        </p:nvSpPr>
        <p:spPr>
          <a:xfrm>
            <a:off x="8114247" y="1530711"/>
            <a:ext cx="3932237" cy="3180847"/>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 name="文本框 3">
            <a:extLst>
              <a:ext uri="{FF2B5EF4-FFF2-40B4-BE49-F238E27FC236}">
                <a16:creationId xmlns:a16="http://schemas.microsoft.com/office/drawing/2014/main" id="{FAE8A635-7F27-9540-300B-76D6FD5740A7}"/>
              </a:ext>
            </a:extLst>
          </p:cNvPr>
          <p:cNvSpPr txBox="1"/>
          <p:nvPr/>
        </p:nvSpPr>
        <p:spPr>
          <a:xfrm>
            <a:off x="717141" y="864401"/>
            <a:ext cx="3613733" cy="904716"/>
          </a:xfrm>
          <a:prstGeom prst="rect">
            <a:avLst/>
          </a:prstGeom>
          <a:noFill/>
        </p:spPr>
        <p:txBody>
          <a:bodyPr wrap="square" lIns="90000" tIns="46800" rIns="90000" bIns="46800" rtlCol="0" anchor="ctr" anchorCtr="0">
            <a:normAutofit/>
          </a:bodyPr>
          <a:lstStyle/>
          <a:p>
            <a:pPr algn="ctr"/>
            <a:r>
              <a:rPr lang="zh-CN" altLang="en-US" dirty="0">
                <a:latin typeface="华文中宋" panose="02010600040101010101" pitchFamily="2" charset="-122"/>
                <a:ea typeface="华文中宋" panose="02010600040101010101" pitchFamily="2" charset="-122"/>
              </a:rPr>
              <a:t>我们</a:t>
            </a:r>
            <a:r>
              <a:rPr lang="en-US" altLang="zh-CN" dirty="0">
                <a:latin typeface="华文中宋" panose="02010600040101010101" pitchFamily="2" charset="-122"/>
                <a:ea typeface="华文中宋" panose="02010600040101010101" pitchFamily="2" charset="-122"/>
              </a:rPr>
              <a:t>skill</a:t>
            </a:r>
            <a:r>
              <a:rPr lang="zh-CN" altLang="en-US" dirty="0">
                <a:latin typeface="华文中宋" panose="02010600040101010101" pitchFamily="2" charset="-122"/>
                <a:ea typeface="华文中宋" panose="02010600040101010101" pitchFamily="2" charset="-122"/>
              </a:rPr>
              <a:t>的具体结构为：</a:t>
            </a:r>
          </a:p>
        </p:txBody>
      </p:sp>
      <p:pic>
        <p:nvPicPr>
          <p:cNvPr id="15" name="图片 14">
            <a:extLst>
              <a:ext uri="{FF2B5EF4-FFF2-40B4-BE49-F238E27FC236}">
                <a16:creationId xmlns:a16="http://schemas.microsoft.com/office/drawing/2014/main" id="{4DB315EB-00F3-8261-EF25-D4039420FD7E}"/>
              </a:ext>
            </a:extLst>
          </p:cNvPr>
          <p:cNvPicPr>
            <a:picLocks noChangeAspect="1"/>
          </p:cNvPicPr>
          <p:nvPr/>
        </p:nvPicPr>
        <p:blipFill>
          <a:blip r:embed="rId3"/>
          <a:stretch>
            <a:fillRect/>
          </a:stretch>
        </p:blipFill>
        <p:spPr>
          <a:xfrm>
            <a:off x="1242336" y="1655634"/>
            <a:ext cx="6066967" cy="2579604"/>
          </a:xfrm>
          <a:prstGeom prst="rect">
            <a:avLst/>
          </a:prstGeom>
        </p:spPr>
      </p:pic>
      <p:sp>
        <p:nvSpPr>
          <p:cNvPr id="19" name="文本框 18">
            <a:extLst>
              <a:ext uri="{FF2B5EF4-FFF2-40B4-BE49-F238E27FC236}">
                <a16:creationId xmlns:a16="http://schemas.microsoft.com/office/drawing/2014/main" id="{0B6762FF-DECF-178E-535D-27979762DA04}"/>
              </a:ext>
            </a:extLst>
          </p:cNvPr>
          <p:cNvSpPr txBox="1"/>
          <p:nvPr/>
        </p:nvSpPr>
        <p:spPr>
          <a:xfrm>
            <a:off x="1098890" y="4426996"/>
            <a:ext cx="9390164" cy="1937555"/>
          </a:xfrm>
          <a:prstGeom prst="rect">
            <a:avLst/>
          </a:prstGeom>
          <a:noFill/>
        </p:spPr>
        <p:txBody>
          <a:bodyPr wrap="square" lIns="90000" tIns="46800" rIns="90000" bIns="46800" rtlCol="0" anchor="ctr" anchorCtr="0">
            <a:noAutofit/>
          </a:bodyPr>
          <a:lstStyle/>
          <a:p>
            <a:pPr marL="285750" indent="-285750">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Skill-learner</a:t>
            </a:r>
            <a:r>
              <a:rPr lang="zh-CN" altLang="en-US" sz="1600" dirty="0">
                <a:latin typeface="华文中宋" panose="02010600040101010101" pitchFamily="2" charset="-122"/>
                <a:ea typeface="华文中宋" panose="02010600040101010101" pitchFamily="2" charset="-122"/>
              </a:rPr>
              <a:t>在接受错误轨迹后会针对性的生成一个新的</a:t>
            </a:r>
            <a:r>
              <a:rPr lang="en-US" altLang="zh-CN" sz="1600" dirty="0">
                <a:latin typeface="华文中宋" panose="02010600040101010101" pitchFamily="2" charset="-122"/>
                <a:ea typeface="华文中宋" panose="02010600040101010101" pitchFamily="2" charset="-122"/>
              </a:rPr>
              <a:t>skill</a:t>
            </a:r>
            <a:r>
              <a:rPr lang="zh-CN" altLang="en-US" sz="1600" dirty="0">
                <a:latin typeface="华文中宋" panose="02010600040101010101" pitchFamily="2" charset="-122"/>
                <a:ea typeface="华文中宋" panose="02010600040101010101" pitchFamily="2" charset="-122"/>
              </a:rPr>
              <a:t>。并且按照关键信息在</a:t>
            </a:r>
            <a:r>
              <a:rPr lang="en-US" altLang="zh-CN" sz="1600" dirty="0">
                <a:latin typeface="华文中宋" panose="02010600040101010101" pitchFamily="2" charset="-122"/>
                <a:ea typeface="华文中宋" panose="02010600040101010101" pitchFamily="2" charset="-122"/>
              </a:rPr>
              <a:t>Skill bank</a:t>
            </a:r>
            <a:r>
              <a:rPr lang="zh-CN" altLang="en-US" sz="1600" dirty="0">
                <a:latin typeface="华文中宋" panose="02010600040101010101" pitchFamily="2" charset="-122"/>
                <a:ea typeface="华文中宋" panose="02010600040101010101" pitchFamily="2" charset="-122"/>
              </a:rPr>
              <a:t>中进行检索相关</a:t>
            </a:r>
            <a:r>
              <a:rPr lang="en-US" altLang="zh-CN" sz="1600" dirty="0">
                <a:latin typeface="华文中宋" panose="02010600040101010101" pitchFamily="2" charset="-122"/>
                <a:ea typeface="华文中宋" panose="02010600040101010101" pitchFamily="2" charset="-122"/>
              </a:rPr>
              <a:t>skill</a:t>
            </a:r>
            <a:r>
              <a:rPr lang="zh-CN" altLang="en-US" sz="1600" dirty="0">
                <a:latin typeface="华文中宋" panose="02010600040101010101" pitchFamily="2" charset="-122"/>
                <a:ea typeface="华文中宋" panose="02010600040101010101" pitchFamily="2" charset="-122"/>
              </a:rPr>
              <a:t>，并进行增删改并操作</a:t>
            </a:r>
            <a:endParaRPr lang="en-US" altLang="zh-CN" sz="1600"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修改完成后我们再次运行这个步骤进行验证，如果错误，分为</a:t>
            </a:r>
            <a:r>
              <a:rPr lang="en-US" altLang="zh-CN" sz="1600" dirty="0">
                <a:latin typeface="华文中宋" panose="02010600040101010101" pitchFamily="2" charset="-122"/>
                <a:ea typeface="华文中宋" panose="02010600040101010101" pitchFamily="2" charset="-122"/>
              </a:rPr>
              <a:t>skill</a:t>
            </a:r>
            <a:r>
              <a:rPr lang="zh-CN" altLang="en-US" sz="1600" dirty="0">
                <a:latin typeface="华文中宋" panose="02010600040101010101" pitchFamily="2" charset="-122"/>
                <a:ea typeface="华文中宋" panose="02010600040101010101" pitchFamily="2" charset="-122"/>
              </a:rPr>
              <a:t>没有被检索，</a:t>
            </a:r>
            <a:r>
              <a:rPr lang="en-US" altLang="zh-CN" sz="1600" dirty="0">
                <a:latin typeface="华文中宋" panose="02010600040101010101" pitchFamily="2" charset="-122"/>
                <a:ea typeface="华文中宋" panose="02010600040101010101" pitchFamily="2" charset="-122"/>
              </a:rPr>
              <a:t>skill</a:t>
            </a:r>
            <a:r>
              <a:rPr lang="zh-CN" altLang="en-US" sz="1600" dirty="0">
                <a:latin typeface="华文中宋" panose="02010600040101010101" pitchFamily="2" charset="-122"/>
                <a:ea typeface="华文中宋" panose="02010600040101010101" pitchFamily="2" charset="-122"/>
              </a:rPr>
              <a:t>仍然不够充分，前者需要改动</a:t>
            </a:r>
            <a:r>
              <a:rPr lang="en-US" altLang="zh-CN" sz="1600" dirty="0">
                <a:latin typeface="华文中宋" panose="02010600040101010101" pitchFamily="2" charset="-122"/>
                <a:ea typeface="华文中宋" panose="02010600040101010101" pitchFamily="2" charset="-122"/>
              </a:rPr>
              <a:t>description</a:t>
            </a:r>
            <a:r>
              <a:rPr lang="zh-CN" altLang="en-US" sz="1600" dirty="0">
                <a:latin typeface="华文中宋" panose="02010600040101010101" pitchFamily="2" charset="-122"/>
                <a:ea typeface="华文中宋" panose="02010600040101010101" pitchFamily="2" charset="-122"/>
              </a:rPr>
              <a:t>和</a:t>
            </a:r>
            <a:r>
              <a:rPr lang="en-US" altLang="zh-CN" sz="1600" dirty="0">
                <a:latin typeface="华文中宋" panose="02010600040101010101" pitchFamily="2" charset="-122"/>
                <a:ea typeface="华文中宋" panose="02010600040101010101" pitchFamily="2" charset="-122"/>
              </a:rPr>
              <a:t>name</a:t>
            </a:r>
            <a:r>
              <a:rPr lang="zh-CN" altLang="en-US" sz="1600" dirty="0">
                <a:latin typeface="华文中宋" panose="02010600040101010101" pitchFamily="2" charset="-122"/>
                <a:ea typeface="华文中宋" panose="02010600040101010101" pitchFamily="2" charset="-122"/>
              </a:rPr>
              <a:t>，后者则需要进一步改动</a:t>
            </a:r>
            <a:r>
              <a:rPr lang="en-US" altLang="zh-CN" sz="1600" dirty="0">
                <a:latin typeface="华文中宋" panose="02010600040101010101" pitchFamily="2" charset="-122"/>
                <a:ea typeface="华文中宋" panose="02010600040101010101" pitchFamily="2" charset="-122"/>
              </a:rPr>
              <a:t>content</a:t>
            </a:r>
            <a:r>
              <a:rPr lang="zh-CN" altLang="en-US" sz="1600" dirty="0">
                <a:latin typeface="华文中宋" panose="02010600040101010101" pitchFamily="2" charset="-122"/>
                <a:ea typeface="华文中宋" panose="02010600040101010101" pitchFamily="2" charset="-122"/>
              </a:rPr>
              <a:t>。</a:t>
            </a:r>
            <a:endParaRPr lang="en-US" altLang="zh-CN" sz="1600" dirty="0">
              <a:latin typeface="华文中宋" panose="02010600040101010101" pitchFamily="2" charset="-122"/>
              <a:ea typeface="华文中宋" panose="02010600040101010101" pitchFamily="2" charset="-122"/>
            </a:endParaRPr>
          </a:p>
          <a:p>
            <a:pPr marL="285750" indent="-285750">
              <a:lnSpc>
                <a:spcPct val="150000"/>
              </a:lnSpc>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如此迭代，直到该步骤可以正确进行或者达到最大迭代次数</a:t>
            </a:r>
          </a:p>
        </p:txBody>
      </p:sp>
    </p:spTree>
    <p:extLst>
      <p:ext uri="{BB962C8B-B14F-4D97-AF65-F5344CB8AC3E}">
        <p14:creationId xmlns:p14="http://schemas.microsoft.com/office/powerpoint/2010/main" val="685302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DF38-E858-A50B-8B7D-A8590F97F23F}"/>
            </a:ext>
          </a:extLst>
        </p:cNvPr>
        <p:cNvGrpSpPr/>
        <p:nvPr/>
      </p:nvGrpSpPr>
      <p:grpSpPr>
        <a:xfrm>
          <a:off x="0" y="0"/>
          <a:ext cx="0" cy="0"/>
          <a:chOff x="0" y="0"/>
          <a:chExt cx="0" cy="0"/>
        </a:xfrm>
      </p:grpSpPr>
      <p:sp>
        <p:nvSpPr>
          <p:cNvPr id="21" name="椭圆 20">
            <a:extLst>
              <a:ext uri="{FF2B5EF4-FFF2-40B4-BE49-F238E27FC236}">
                <a16:creationId xmlns:a16="http://schemas.microsoft.com/office/drawing/2014/main" id="{4F5CBC2C-E4D1-569A-22E6-B1F3A27A0D4C}"/>
              </a:ext>
            </a:extLst>
          </p:cNvPr>
          <p:cNvSpPr/>
          <p:nvPr/>
        </p:nvSpPr>
        <p:spPr bwMode="auto">
          <a:xfrm>
            <a:off x="1199764" y="5077374"/>
            <a:ext cx="3387363" cy="45902"/>
          </a:xfrm>
          <a:prstGeom prst="ellipse">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sp>
        <p:nvSpPr>
          <p:cNvPr id="2" name="标题 1">
            <a:extLst>
              <a:ext uri="{FF2B5EF4-FFF2-40B4-BE49-F238E27FC236}">
                <a16:creationId xmlns:a16="http://schemas.microsoft.com/office/drawing/2014/main" id="{248F3F7E-8883-A237-FA9E-AC9643357E34}"/>
              </a:ext>
            </a:extLst>
          </p:cNvPr>
          <p:cNvSpPr>
            <a:spLocks noGrp="1"/>
          </p:cNvSpPr>
          <p:nvPr>
            <p:ph type="title"/>
          </p:nvPr>
        </p:nvSpPr>
        <p:spPr>
          <a:xfrm>
            <a:off x="1341437" y="249463"/>
            <a:ext cx="10850563" cy="663575"/>
          </a:xfrm>
        </p:spPr>
        <p:txBody>
          <a:bodyPr/>
          <a:lstStyle/>
          <a:p>
            <a:r>
              <a:rPr lang="zh-CN" altLang="en-US" sz="2800" dirty="0"/>
              <a:t>实验开展</a:t>
            </a:r>
          </a:p>
        </p:txBody>
      </p:sp>
      <p:sp>
        <p:nvSpPr>
          <p:cNvPr id="65" name="矩形 64">
            <a:extLst>
              <a:ext uri="{FF2B5EF4-FFF2-40B4-BE49-F238E27FC236}">
                <a16:creationId xmlns:a16="http://schemas.microsoft.com/office/drawing/2014/main" id="{919F31A6-7B2A-D6CE-7E7B-9CC84B11EF54}"/>
              </a:ext>
            </a:extLst>
          </p:cNvPr>
          <p:cNvSpPr/>
          <p:nvPr/>
        </p:nvSpPr>
        <p:spPr bwMode="auto">
          <a:xfrm>
            <a:off x="8358334" y="5395748"/>
            <a:ext cx="1120665" cy="968804"/>
          </a:xfrm>
          <a:prstGeom prst="rect">
            <a:avLst/>
          </a:prstGeom>
          <a:solidFill>
            <a:schemeClr val="bg1">
              <a:lumMod val="95000"/>
            </a:schemeClr>
          </a:solidFill>
          <a:ln w="381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B3CC1127-8F46-DDA2-46E8-ADBC4B7F8AE9}"/>
              </a:ext>
            </a:extLst>
          </p:cNvPr>
          <p:cNvSpPr txBox="1"/>
          <p:nvPr/>
        </p:nvSpPr>
        <p:spPr>
          <a:xfrm>
            <a:off x="448351" y="944338"/>
            <a:ext cx="1604623" cy="617673"/>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8" name="文本框 7">
            <a:extLst>
              <a:ext uri="{FF2B5EF4-FFF2-40B4-BE49-F238E27FC236}">
                <a16:creationId xmlns:a16="http://schemas.microsoft.com/office/drawing/2014/main" id="{B3637F01-11F5-2A8A-4942-C8539B1CEFCD}"/>
              </a:ext>
            </a:extLst>
          </p:cNvPr>
          <p:cNvSpPr txBox="1"/>
          <p:nvPr/>
        </p:nvSpPr>
        <p:spPr>
          <a:xfrm>
            <a:off x="448351" y="1530711"/>
            <a:ext cx="3598606" cy="2424635"/>
          </a:xfrm>
          <a:prstGeom prst="rect">
            <a:avLst/>
          </a:prstGeom>
          <a:noFill/>
        </p:spPr>
        <p:txBody>
          <a:bodyPr wrap="square" lIns="90000" tIns="46800" rIns="90000" bIns="46800" rtlCol="0" anchor="ctr"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9" name="文本框 8">
            <a:extLst>
              <a:ext uri="{FF2B5EF4-FFF2-40B4-BE49-F238E27FC236}">
                <a16:creationId xmlns:a16="http://schemas.microsoft.com/office/drawing/2014/main" id="{5F8CB1AB-0E22-85EF-8410-727C5DD85E1B}"/>
              </a:ext>
            </a:extLst>
          </p:cNvPr>
          <p:cNvSpPr txBox="1"/>
          <p:nvPr/>
        </p:nvSpPr>
        <p:spPr>
          <a:xfrm>
            <a:off x="-141585" y="3986646"/>
            <a:ext cx="2465929" cy="769552"/>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sp>
        <p:nvSpPr>
          <p:cNvPr id="10" name="文本框 9">
            <a:extLst>
              <a:ext uri="{FF2B5EF4-FFF2-40B4-BE49-F238E27FC236}">
                <a16:creationId xmlns:a16="http://schemas.microsoft.com/office/drawing/2014/main" id="{4881A3EE-3A46-8CB9-0F4F-BC5E315EB012}"/>
              </a:ext>
            </a:extLst>
          </p:cNvPr>
          <p:cNvSpPr txBox="1"/>
          <p:nvPr/>
        </p:nvSpPr>
        <p:spPr>
          <a:xfrm>
            <a:off x="519142" y="4920062"/>
            <a:ext cx="3934871" cy="978998"/>
          </a:xfrm>
          <a:prstGeom prst="rect">
            <a:avLst/>
          </a:prstGeom>
          <a:noFill/>
        </p:spPr>
        <p:txBody>
          <a:bodyPr wrap="square" lIns="90000" tIns="46800" rIns="90000" bIns="46800" rtlCol="0" anchor="ctr"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1" name="文本框 10">
            <a:extLst>
              <a:ext uri="{FF2B5EF4-FFF2-40B4-BE49-F238E27FC236}">
                <a16:creationId xmlns:a16="http://schemas.microsoft.com/office/drawing/2014/main" id="{FD143FC8-14E5-A7AA-8124-65ADFA7EB845}"/>
              </a:ext>
            </a:extLst>
          </p:cNvPr>
          <p:cNvSpPr txBox="1"/>
          <p:nvPr/>
        </p:nvSpPr>
        <p:spPr>
          <a:xfrm>
            <a:off x="6010284" y="1200080"/>
            <a:ext cx="2908382" cy="106188"/>
          </a:xfrm>
          <a:prstGeom prst="rect">
            <a:avLst/>
          </a:prstGeom>
          <a:noFill/>
        </p:spPr>
        <p:txBody>
          <a:bodyPr wrap="square" lIns="90000" tIns="46800" rIns="90000" bIns="468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2" name="文本框 11">
            <a:extLst>
              <a:ext uri="{FF2B5EF4-FFF2-40B4-BE49-F238E27FC236}">
                <a16:creationId xmlns:a16="http://schemas.microsoft.com/office/drawing/2014/main" id="{0C31C4BC-6E98-982A-CDC2-04C34002F946}"/>
              </a:ext>
            </a:extLst>
          </p:cNvPr>
          <p:cNvSpPr txBox="1"/>
          <p:nvPr/>
        </p:nvSpPr>
        <p:spPr>
          <a:xfrm>
            <a:off x="7344697" y="1404047"/>
            <a:ext cx="2754999" cy="2967375"/>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3" name="文本框 12">
            <a:extLst>
              <a:ext uri="{FF2B5EF4-FFF2-40B4-BE49-F238E27FC236}">
                <a16:creationId xmlns:a16="http://schemas.microsoft.com/office/drawing/2014/main" id="{647C2E58-14C6-8B96-AA9C-2D79D554D168}"/>
              </a:ext>
            </a:extLst>
          </p:cNvPr>
          <p:cNvSpPr txBox="1"/>
          <p:nvPr/>
        </p:nvSpPr>
        <p:spPr>
          <a:xfrm>
            <a:off x="7048677" y="4664418"/>
            <a:ext cx="2619314" cy="825911"/>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3" name="文本框 2">
            <a:extLst>
              <a:ext uri="{FF2B5EF4-FFF2-40B4-BE49-F238E27FC236}">
                <a16:creationId xmlns:a16="http://schemas.microsoft.com/office/drawing/2014/main" id="{E05A30E3-FF0B-C120-74E1-BAF33CF10FA3}"/>
              </a:ext>
            </a:extLst>
          </p:cNvPr>
          <p:cNvSpPr txBox="1"/>
          <p:nvPr/>
        </p:nvSpPr>
        <p:spPr>
          <a:xfrm>
            <a:off x="752537" y="1562011"/>
            <a:ext cx="3542943" cy="3648727"/>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4" name="文本框 13">
            <a:extLst>
              <a:ext uri="{FF2B5EF4-FFF2-40B4-BE49-F238E27FC236}">
                <a16:creationId xmlns:a16="http://schemas.microsoft.com/office/drawing/2014/main" id="{33CD986C-9AEC-0258-30D6-AF5D5351B191}"/>
              </a:ext>
            </a:extLst>
          </p:cNvPr>
          <p:cNvSpPr txBox="1"/>
          <p:nvPr/>
        </p:nvSpPr>
        <p:spPr>
          <a:xfrm>
            <a:off x="682180" y="5879286"/>
            <a:ext cx="2976413" cy="326679"/>
          </a:xfrm>
          <a:prstGeom prst="rect">
            <a:avLst/>
          </a:prstGeom>
          <a:noFill/>
        </p:spPr>
        <p:txBody>
          <a:bodyPr wrap="square" lIns="90000" tIns="46800" rIns="90000" bIns="468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 name="文本框 17">
            <a:extLst>
              <a:ext uri="{FF2B5EF4-FFF2-40B4-BE49-F238E27FC236}">
                <a16:creationId xmlns:a16="http://schemas.microsoft.com/office/drawing/2014/main" id="{CBB9C2FD-1135-3C22-2721-4FFE155C9E59}"/>
              </a:ext>
            </a:extLst>
          </p:cNvPr>
          <p:cNvSpPr txBox="1"/>
          <p:nvPr/>
        </p:nvSpPr>
        <p:spPr>
          <a:xfrm>
            <a:off x="8114247" y="1530711"/>
            <a:ext cx="3932237" cy="3180847"/>
          </a:xfrm>
          <a:prstGeom prst="rect">
            <a:avLst/>
          </a:prstGeom>
          <a:noFill/>
        </p:spPr>
        <p:txBody>
          <a:bodyPr wrap="square" lIns="90000" tIns="46800" rIns="90000" bIns="4680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 name="文本框 3">
            <a:extLst>
              <a:ext uri="{FF2B5EF4-FFF2-40B4-BE49-F238E27FC236}">
                <a16:creationId xmlns:a16="http://schemas.microsoft.com/office/drawing/2014/main" id="{E8C3EC67-3CBB-DB31-F1CB-F10DC464CB25}"/>
              </a:ext>
            </a:extLst>
          </p:cNvPr>
          <p:cNvSpPr txBox="1"/>
          <p:nvPr/>
        </p:nvSpPr>
        <p:spPr>
          <a:xfrm>
            <a:off x="717141" y="864401"/>
            <a:ext cx="3613733" cy="904716"/>
          </a:xfrm>
          <a:prstGeom prst="rect">
            <a:avLst/>
          </a:prstGeom>
          <a:noFill/>
        </p:spPr>
        <p:txBody>
          <a:bodyPr wrap="square" lIns="90000" tIns="46800" rIns="90000" bIns="46800" rtlCol="0" anchor="ctr" anchorCtr="0">
            <a:normAutofit/>
          </a:bodyPr>
          <a:lstStyle/>
          <a:p>
            <a:pPr algn="ctr"/>
            <a:endParaRPr lang="zh-CN" altLang="en-US" dirty="0">
              <a:latin typeface="华文中宋" panose="02010600040101010101" pitchFamily="2" charset="-122"/>
              <a:ea typeface="华文中宋" panose="02010600040101010101" pitchFamily="2" charset="-122"/>
            </a:endParaRPr>
          </a:p>
        </p:txBody>
      </p:sp>
      <p:sp>
        <p:nvSpPr>
          <p:cNvPr id="19" name="文本框 18">
            <a:extLst>
              <a:ext uri="{FF2B5EF4-FFF2-40B4-BE49-F238E27FC236}">
                <a16:creationId xmlns:a16="http://schemas.microsoft.com/office/drawing/2014/main" id="{62565A99-B0E2-FEE2-ED25-E928AFDF01F2}"/>
              </a:ext>
            </a:extLst>
          </p:cNvPr>
          <p:cNvSpPr txBox="1"/>
          <p:nvPr/>
        </p:nvSpPr>
        <p:spPr>
          <a:xfrm>
            <a:off x="682180" y="597956"/>
            <a:ext cx="8455921" cy="2609919"/>
          </a:xfrm>
          <a:prstGeom prst="rect">
            <a:avLst/>
          </a:prstGeom>
          <a:noFill/>
        </p:spPr>
        <p:txBody>
          <a:bodyPr wrap="square" lIns="90000" tIns="46800" rIns="90000" bIns="46800" rtlCol="0" anchor="ctr" anchorCtr="0">
            <a:noAutofit/>
          </a:bodyPr>
          <a:lstStyle/>
          <a:p>
            <a:pPr>
              <a:lnSpc>
                <a:spcPct val="150000"/>
              </a:lnSpc>
            </a:pPr>
            <a:r>
              <a:rPr lang="zh-CN" altLang="en-US" sz="2000" b="1" dirty="0">
                <a:latin typeface="华文中宋" panose="02010600040101010101" pitchFamily="2" charset="-122"/>
                <a:ea typeface="华文中宋" panose="02010600040101010101" pitchFamily="2" charset="-122"/>
              </a:rPr>
              <a:t>基座选取：</a:t>
            </a:r>
            <a:endParaRPr lang="en-US" altLang="zh-CN" sz="2000" b="1" dirty="0">
              <a:latin typeface="华文中宋" panose="02010600040101010101" pitchFamily="2" charset="-122"/>
              <a:ea typeface="华文中宋" panose="02010600040101010101" pitchFamily="2" charset="-122"/>
            </a:endParaRPr>
          </a:p>
          <a:p>
            <a:pPr>
              <a:lnSpc>
                <a:spcPct val="150000"/>
              </a:lnSpc>
            </a:pPr>
            <a:r>
              <a:rPr lang="en-US" altLang="zh-CN" sz="1600" dirty="0">
                <a:latin typeface="华文中宋" panose="02010600040101010101" pitchFamily="2" charset="-122"/>
                <a:ea typeface="华文中宋" panose="02010600040101010101" pitchFamily="2" charset="-122"/>
              </a:rPr>
              <a:t>1.MEM0</a:t>
            </a:r>
            <a:r>
              <a:rPr lang="zh-CN" altLang="en-US" sz="1600" dirty="0">
                <a:latin typeface="华文中宋" panose="02010600040101010101" pitchFamily="2" charset="-122"/>
                <a:ea typeface="华文中宋" panose="02010600040101010101" pitchFamily="2" charset="-122"/>
              </a:rPr>
              <a:t>：该记忆系统检索方面采用经典的</a:t>
            </a:r>
            <a:r>
              <a:rPr lang="en-US" altLang="zh-CN" sz="1600" dirty="0">
                <a:latin typeface="华文中宋" panose="02010600040101010101" pitchFamily="2" charset="-122"/>
                <a:ea typeface="华文中宋" panose="02010600040101010101" pitchFamily="2" charset="-122"/>
              </a:rPr>
              <a:t>embedding</a:t>
            </a:r>
            <a:r>
              <a:rPr lang="zh-CN" altLang="en-US" sz="1600" dirty="0">
                <a:latin typeface="华文中宋" panose="02010600040101010101" pitchFamily="2" charset="-122"/>
                <a:ea typeface="华文中宋" panose="02010600040101010101" pitchFamily="2" charset="-122"/>
              </a:rPr>
              <a:t>匹配，构建方面使用时间顺序和相关程度检索出相关记忆条目进行增删改并。且工业化应用广泛，适合作为基础基座</a:t>
            </a:r>
            <a:endParaRPr lang="en-US" altLang="zh-CN" sz="1600" dirty="0">
              <a:latin typeface="华文中宋" panose="02010600040101010101" pitchFamily="2" charset="-122"/>
              <a:ea typeface="华文中宋" panose="02010600040101010101" pitchFamily="2" charset="-122"/>
            </a:endParaRPr>
          </a:p>
          <a:p>
            <a:pPr>
              <a:lnSpc>
                <a:spcPct val="150000"/>
              </a:lnSpc>
            </a:pPr>
            <a:r>
              <a:rPr lang="en-US" altLang="zh-CN" sz="1600" dirty="0">
                <a:latin typeface="华文中宋" panose="02010600040101010101" pitchFamily="2" charset="-122"/>
                <a:ea typeface="华文中宋" panose="02010600040101010101" pitchFamily="2" charset="-122"/>
              </a:rPr>
              <a:t>2.A-MEM:</a:t>
            </a:r>
            <a:r>
              <a:rPr lang="zh-CN" altLang="zh-CN" sz="1600" dirty="0">
                <a:latin typeface="华文中宋" panose="02010600040101010101" pitchFamily="2" charset="-122"/>
                <a:ea typeface="华文中宋" panose="02010600040101010101" pitchFamily="2" charset="-122"/>
              </a:rPr>
              <a:t>Agentic Memory for LLM Agents</a:t>
            </a:r>
            <a:r>
              <a:rPr lang="zh-CN" altLang="en-US" sz="1600" dirty="0">
                <a:latin typeface="华文中宋" panose="02010600040101010101" pitchFamily="2" charset="-122"/>
                <a:ea typeface="华文中宋" panose="02010600040101010101" pitchFamily="2" charset="-122"/>
              </a:rPr>
              <a:t>。采用类似图结构的方案以及</a:t>
            </a:r>
            <a:r>
              <a:rPr lang="en-US" altLang="zh-CN" sz="1600" dirty="0">
                <a:latin typeface="华文中宋" panose="02010600040101010101" pitchFamily="2" charset="-122"/>
                <a:ea typeface="华文中宋" panose="02010600040101010101" pitchFamily="2" charset="-122"/>
              </a:rPr>
              <a:t>note</a:t>
            </a:r>
            <a:r>
              <a:rPr lang="zh-CN" altLang="en-US" sz="1600" dirty="0">
                <a:latin typeface="华文中宋" panose="02010600040101010101" pitchFamily="2" charset="-122"/>
                <a:ea typeface="华文中宋" panose="02010600040101010101" pitchFamily="2" charset="-122"/>
              </a:rPr>
              <a:t>方式进行记忆的储存，检索，代表记忆构建的另一种流派</a:t>
            </a:r>
          </a:p>
        </p:txBody>
      </p:sp>
      <p:sp>
        <p:nvSpPr>
          <p:cNvPr id="5" name="文本框 4">
            <a:extLst>
              <a:ext uri="{FF2B5EF4-FFF2-40B4-BE49-F238E27FC236}">
                <a16:creationId xmlns:a16="http://schemas.microsoft.com/office/drawing/2014/main" id="{56BDB2AC-02CD-30FD-4672-AAC96B0C215D}"/>
              </a:ext>
            </a:extLst>
          </p:cNvPr>
          <p:cNvSpPr txBox="1"/>
          <p:nvPr/>
        </p:nvSpPr>
        <p:spPr>
          <a:xfrm>
            <a:off x="3327236" y="913038"/>
            <a:ext cx="914400" cy="914400"/>
          </a:xfrm>
          <a:prstGeom prst="rect">
            <a:avLst/>
          </a:prstGeom>
          <a:noFill/>
        </p:spPr>
        <p:txBody>
          <a:bodyPr wrap="none" lIns="90000" tIns="46800" rIns="90000" bIns="46800" rtlCol="0" anchor="ctr" anchorCtr="0">
            <a:normAutofit/>
          </a:bodyPr>
          <a:lstStyle/>
          <a:p>
            <a:pPr algn="ctr"/>
            <a:endParaRPr lang="zh-CN" altLang="en-US" dirty="0"/>
          </a:p>
        </p:txBody>
      </p:sp>
      <p:sp>
        <p:nvSpPr>
          <p:cNvPr id="6" name="文本框 5">
            <a:extLst>
              <a:ext uri="{FF2B5EF4-FFF2-40B4-BE49-F238E27FC236}">
                <a16:creationId xmlns:a16="http://schemas.microsoft.com/office/drawing/2014/main" id="{92C478CA-3947-A10D-5ED8-BCBD7870DADB}"/>
              </a:ext>
            </a:extLst>
          </p:cNvPr>
          <p:cNvSpPr txBox="1"/>
          <p:nvPr/>
        </p:nvSpPr>
        <p:spPr>
          <a:xfrm>
            <a:off x="751416" y="2692561"/>
            <a:ext cx="9244289" cy="2384812"/>
          </a:xfrm>
          <a:prstGeom prst="rect">
            <a:avLst/>
          </a:prstGeom>
          <a:noFill/>
        </p:spPr>
        <p:txBody>
          <a:bodyPr wrap="square" lIns="90000" tIns="46800" rIns="90000" bIns="46800" rtlCol="0" anchor="ctr" anchorCtr="0">
            <a:normAutofit/>
          </a:bodyPr>
          <a:lstStyle/>
          <a:p>
            <a:r>
              <a:rPr lang="zh-CN" altLang="en-US" sz="2000" b="1" dirty="0">
                <a:latin typeface="华文中宋" panose="02010600040101010101" pitchFamily="2" charset="-122"/>
                <a:ea typeface="华文中宋" panose="02010600040101010101" pitchFamily="2" charset="-122"/>
              </a:rPr>
              <a:t>模型选取：</a:t>
            </a:r>
            <a:endParaRPr lang="en-US" altLang="zh-CN" sz="2000" b="1" dirty="0">
              <a:latin typeface="华文中宋" panose="02010600040101010101" pitchFamily="2" charset="-122"/>
              <a:ea typeface="华文中宋" panose="02010600040101010101" pitchFamily="2" charset="-122"/>
            </a:endParaRPr>
          </a:p>
          <a:p>
            <a:r>
              <a:rPr lang="en-US" altLang="zh-CN" sz="1600" b="1" dirty="0">
                <a:latin typeface="华文中宋" panose="02010600040101010101" pitchFamily="2" charset="-122"/>
                <a:ea typeface="华文中宋" panose="02010600040101010101" pitchFamily="2" charset="-122"/>
              </a:rPr>
              <a:t>Qwen2-1.5b/gpt-4o-mini</a:t>
            </a:r>
          </a:p>
          <a:p>
            <a:endParaRPr lang="en-US" altLang="zh-CN" sz="1600" b="1" dirty="0">
              <a:latin typeface="华文中宋" panose="02010600040101010101" pitchFamily="2" charset="-122"/>
              <a:ea typeface="华文中宋" panose="02010600040101010101" pitchFamily="2" charset="-122"/>
            </a:endParaRPr>
          </a:p>
          <a:p>
            <a:endParaRPr lang="zh-CN" altLang="en-US" sz="1600" b="1" dirty="0">
              <a:latin typeface="华文中宋" panose="02010600040101010101" pitchFamily="2" charset="-122"/>
              <a:ea typeface="华文中宋" panose="02010600040101010101" pitchFamily="2" charset="-122"/>
            </a:endParaRPr>
          </a:p>
        </p:txBody>
      </p:sp>
      <p:sp>
        <p:nvSpPr>
          <p:cNvPr id="16" name="文本框 15">
            <a:extLst>
              <a:ext uri="{FF2B5EF4-FFF2-40B4-BE49-F238E27FC236}">
                <a16:creationId xmlns:a16="http://schemas.microsoft.com/office/drawing/2014/main" id="{717C8B32-12E8-8341-3363-B636AB137C2D}"/>
              </a:ext>
            </a:extLst>
          </p:cNvPr>
          <p:cNvSpPr txBox="1"/>
          <p:nvPr/>
        </p:nvSpPr>
        <p:spPr>
          <a:xfrm>
            <a:off x="717141" y="4149233"/>
            <a:ext cx="7499978" cy="2384812"/>
          </a:xfrm>
          <a:prstGeom prst="rect">
            <a:avLst/>
          </a:prstGeom>
          <a:noFill/>
        </p:spPr>
        <p:txBody>
          <a:bodyPr wrap="square" lIns="90000" tIns="46800" rIns="90000" bIns="46800" rtlCol="0" anchor="ctr" anchorCtr="0">
            <a:normAutofit/>
          </a:bodyPr>
          <a:lstStyle/>
          <a:p>
            <a:r>
              <a:rPr lang="zh-CN" altLang="en-US" sz="2000" b="1" dirty="0">
                <a:latin typeface="华文中宋" panose="02010600040101010101" pitchFamily="2" charset="-122"/>
                <a:ea typeface="华文中宋" panose="02010600040101010101" pitchFamily="2" charset="-122"/>
              </a:rPr>
              <a:t>主实验：</a:t>
            </a:r>
            <a:endParaRPr lang="en-US" altLang="zh-CN" sz="2000" b="1" dirty="0">
              <a:latin typeface="华文中宋" panose="02010600040101010101" pitchFamily="2" charset="-122"/>
              <a:ea typeface="华文中宋" panose="02010600040101010101" pitchFamily="2" charset="-122"/>
            </a:endParaRPr>
          </a:p>
          <a:p>
            <a:r>
              <a:rPr lang="zh-CN" altLang="zh-CN" sz="1600" dirty="0">
                <a:latin typeface="华文中宋" panose="02010600040101010101" pitchFamily="2" charset="-122"/>
                <a:ea typeface="华文中宋" panose="02010600040101010101" pitchFamily="2" charset="-122"/>
              </a:rPr>
              <a:t>原始记忆基座</a:t>
            </a:r>
          </a:p>
          <a:p>
            <a:r>
              <a:rPr lang="zh-CN" altLang="zh-CN" sz="1600" dirty="0">
                <a:latin typeface="华文中宋" panose="02010600040101010101" pitchFamily="2" charset="-122"/>
                <a:ea typeface="华文中宋" panose="02010600040101010101" pitchFamily="2" charset="-122"/>
              </a:rPr>
              <a:t>原始基座 + 失败案例检索</a:t>
            </a:r>
          </a:p>
          <a:p>
            <a:r>
              <a:rPr lang="zh-CN" altLang="zh-CN" sz="1600" dirty="0">
                <a:latin typeface="华文中宋" panose="02010600040101010101" pitchFamily="2" charset="-122"/>
                <a:ea typeface="华文中宋" panose="02010600040101010101" pitchFamily="2" charset="-122"/>
              </a:rPr>
              <a:t>原始基座 + 全局反思提示词</a:t>
            </a:r>
          </a:p>
          <a:p>
            <a:r>
              <a:rPr lang="zh-CN" altLang="zh-CN" sz="1600" dirty="0">
                <a:latin typeface="华文中宋" panose="02010600040101010101" pitchFamily="2" charset="-122"/>
                <a:ea typeface="华文中宋" panose="02010600040101010101" pitchFamily="2" charset="-122"/>
              </a:rPr>
              <a:t>原始基座 + MiM</a:t>
            </a:r>
          </a:p>
          <a:p>
            <a:endParaRPr lang="en-US" altLang="zh-CN" sz="2000" b="1" dirty="0">
              <a:latin typeface="华文中宋" panose="02010600040101010101" pitchFamily="2" charset="-122"/>
              <a:ea typeface="华文中宋" panose="02010600040101010101" pitchFamily="2" charset="-122"/>
            </a:endParaRPr>
          </a:p>
          <a:p>
            <a:pPr algn="ctr"/>
            <a:endParaRPr lang="zh-CN" altLang="en-US" sz="2000" b="1" dirty="0">
              <a:latin typeface="华文中宋" panose="02010600040101010101" pitchFamily="2" charset="-122"/>
              <a:ea typeface="华文中宋" panose="02010600040101010101" pitchFamily="2" charset="-122"/>
            </a:endParaRPr>
          </a:p>
        </p:txBody>
      </p:sp>
      <p:sp>
        <p:nvSpPr>
          <p:cNvPr id="17" name="文本框 16">
            <a:extLst>
              <a:ext uri="{FF2B5EF4-FFF2-40B4-BE49-F238E27FC236}">
                <a16:creationId xmlns:a16="http://schemas.microsoft.com/office/drawing/2014/main" id="{1047FC51-DC29-3430-F6D2-144116BE8464}"/>
              </a:ext>
            </a:extLst>
          </p:cNvPr>
          <p:cNvSpPr txBox="1"/>
          <p:nvPr/>
        </p:nvSpPr>
        <p:spPr>
          <a:xfrm>
            <a:off x="5846262" y="3455506"/>
            <a:ext cx="5628598" cy="1755232"/>
          </a:xfrm>
          <a:prstGeom prst="rect">
            <a:avLst/>
          </a:prstGeom>
          <a:noFill/>
        </p:spPr>
        <p:txBody>
          <a:bodyPr wrap="square" lIns="90000" tIns="46800" rIns="90000" bIns="46800" rtlCol="0" anchor="ctr" anchorCtr="0">
            <a:normAutofit/>
          </a:bodyPr>
          <a:lstStyle/>
          <a:p>
            <a:r>
              <a:rPr lang="zh-CN" altLang="en-US" b="1" dirty="0">
                <a:latin typeface="华文中宋" panose="02010600040101010101" pitchFamily="2" charset="-122"/>
                <a:ea typeface="华文中宋" panose="02010600040101010101" pitchFamily="2" charset="-122"/>
              </a:rPr>
              <a:t>其他实验</a:t>
            </a:r>
            <a:endParaRPr lang="en-US" altLang="zh-CN" b="1"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同记忆基座不同类别任务是否有跨任务迁移能力</a:t>
            </a:r>
            <a:endParaRPr lang="en-US" altLang="zh-CN" sz="1600"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同记忆基座不同</a:t>
            </a:r>
            <a:r>
              <a:rPr lang="en-US" altLang="zh-CN" sz="1600" dirty="0">
                <a:latin typeface="华文中宋" panose="02010600040101010101" pitchFamily="2" charset="-122"/>
                <a:ea typeface="华文中宋" panose="02010600040101010101" pitchFamily="2" charset="-122"/>
              </a:rPr>
              <a:t>LLM</a:t>
            </a:r>
            <a:r>
              <a:rPr lang="zh-CN" altLang="en-US" sz="1600" dirty="0">
                <a:latin typeface="华文中宋" panose="02010600040101010101" pitchFamily="2" charset="-122"/>
                <a:ea typeface="华文中宋" panose="02010600040101010101" pitchFamily="2" charset="-122"/>
              </a:rPr>
              <a:t>，强模型的</a:t>
            </a:r>
            <a:r>
              <a:rPr lang="en-US" altLang="zh-CN" sz="1600" dirty="0">
                <a:latin typeface="华文中宋" panose="02010600040101010101" pitchFamily="2" charset="-122"/>
                <a:ea typeface="华文中宋" panose="02010600040101010101" pitchFamily="2" charset="-122"/>
              </a:rPr>
              <a:t>SKILL</a:t>
            </a:r>
            <a:r>
              <a:rPr lang="zh-CN" altLang="en-US" sz="1600" dirty="0">
                <a:latin typeface="华文中宋" panose="02010600040101010101" pitchFamily="2" charset="-122"/>
                <a:ea typeface="华文中宋" panose="02010600040101010101" pitchFamily="2" charset="-122"/>
              </a:rPr>
              <a:t>是否使用于弱模型</a:t>
            </a:r>
            <a:endParaRPr lang="en-US" altLang="zh-CN" sz="1600"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不同记忆基座是否能共享一套</a:t>
            </a:r>
            <a:r>
              <a:rPr lang="en-US" altLang="zh-CN" sz="1600" dirty="0">
                <a:latin typeface="华文中宋" panose="02010600040101010101" pitchFamily="2" charset="-122"/>
                <a:ea typeface="华文中宋" panose="02010600040101010101" pitchFamily="2" charset="-122"/>
              </a:rPr>
              <a:t>SKILL</a:t>
            </a:r>
            <a:endParaRPr lang="zh-CN" altLang="en-US" sz="16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711866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简约毕业答辩设计论文答辩PPT模板"/>
  <p:tag name="ISPRING_FIRST_PUBLISH" val="1"/>
</p:tagLst>
</file>

<file path=ppt/theme/theme1.xml><?xml version="1.0" encoding="utf-8"?>
<a:theme xmlns:a="http://schemas.openxmlformats.org/drawingml/2006/main" name="千图网拥有20W+精美PPT模板 更多PPT模板下载至：www.58pic.com/office/ppt">
  <a:themeElements>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123">
  <a:themeElements>
    <a:clrScheme name="答辩宝典">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fontScheme name="wmzyb45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38100">
          <a:noFill/>
        </a:ln>
      </a:spPr>
      <a:bodyPr rtlCol="0" anchor="ctr"/>
      <a:lstStyle>
        <a:defPPr algn="ctr">
          <a:defRPr dirty="0" smtClean="0">
            <a:solidFill>
              <a:schemeClr val="dk1"/>
            </a:solidFill>
          </a:defRPr>
        </a:defPPr>
      </a:lstStyle>
      <a:style>
        <a:lnRef idx="2">
          <a:schemeClr val="dk1"/>
        </a:lnRef>
        <a:fillRef idx="1">
          <a:schemeClr val="lt1"/>
        </a:fillRef>
        <a:effectRef idx="0">
          <a:schemeClr val="dk1"/>
        </a:effectRef>
        <a:fontRef idx="minor">
          <a:schemeClr val="dk1"/>
        </a:fontRef>
      </a:style>
    </a:spDef>
    <a:lnDef>
      <a:spPr>
        <a:ln w="3175" cap="rnd">
          <a:solidFill>
            <a:schemeClr val="bg1">
              <a:lumMod val="75000"/>
            </a:schemeClr>
          </a:solidFill>
          <a:round/>
          <a:headEnd type="none"/>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tIns="46800" rIns="90000" bIns="46800" rtlCol="0" anchor="ctr" anchorCtr="0">
        <a:normAutofit/>
      </a:bodyPr>
      <a:lstStyle>
        <a:defPPr algn="ct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0167A2"/>
    </a:accent1>
    <a:accent2>
      <a:srgbClr val="0F4D96"/>
    </a:accent2>
    <a:accent3>
      <a:srgbClr val="3491CA"/>
    </a:accent3>
    <a:accent4>
      <a:srgbClr val="1B9AF9"/>
    </a:accent4>
    <a:accent5>
      <a:srgbClr val="01A4E1"/>
    </a:accent5>
    <a:accent6>
      <a:srgbClr val="006EBE"/>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4954</TotalTime>
  <Words>661</Words>
  <Application>Microsoft Office PowerPoint</Application>
  <PresentationFormat>宽屏</PresentationFormat>
  <Paragraphs>82</Paragraphs>
  <Slides>7</Slides>
  <Notes>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7</vt:i4>
      </vt:variant>
    </vt:vector>
  </HeadingPairs>
  <TitlesOfParts>
    <vt:vector size="16" baseType="lpstr">
      <vt:lpstr>等线</vt:lpstr>
      <vt:lpstr>华文中宋</vt:lpstr>
      <vt:lpstr>宋体</vt:lpstr>
      <vt:lpstr>微软雅黑</vt:lpstr>
      <vt:lpstr>站酷快乐体2016修订版</vt:lpstr>
      <vt:lpstr>Arial</vt:lpstr>
      <vt:lpstr>Calibri</vt:lpstr>
      <vt:lpstr>千图网拥有20W+精美PPT模板 更多PPT模板下载至：www.58pic.com/office/ppt</vt:lpstr>
      <vt:lpstr> 123</vt:lpstr>
      <vt:lpstr>PowerPoint 演示文稿</vt:lpstr>
      <vt:lpstr>相近的工作</vt:lpstr>
      <vt:lpstr>我们的定位</vt:lpstr>
      <vt:lpstr>MiM基本框架</vt:lpstr>
      <vt:lpstr>Memory Failure Attributor</vt:lpstr>
      <vt:lpstr>Skill-learner进行Skill构建或者改写</vt:lpstr>
      <vt:lpstr>实验开展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简约毕业答辩设计论文答辩PPT模板</dc:title>
  <dc:creator/>
  <cp:lastModifiedBy>Potato Mr</cp:lastModifiedBy>
  <cp:revision>177</cp:revision>
  <dcterms:created xsi:type="dcterms:W3CDTF">2018-04-25T14:27:00Z</dcterms:created>
  <dcterms:modified xsi:type="dcterms:W3CDTF">2026-07-22T08:36:24Z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2052-12.1.0.21171</vt:lpwstr>
  </property>
  <property fmtid="{D5CDD505-2E9C-101B-9397-08002B2CF9AE}" pid="4" name="ICV">
    <vt:lpwstr>33104550AB604FC38B898AC884300160_12</vt:lpwstr>
  </property>
</Properties>
</file>